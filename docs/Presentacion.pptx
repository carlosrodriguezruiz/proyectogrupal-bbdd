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Public Sans" pitchFamily="34" charset="0"/>
      <p:regular r:id="rId30"/>
      <p:bold r:id="rId31"/>
    </p:embeddedFont>
    <p:embeddedFont>
      <p:font typeface="Space Grotesk" pitchFamily="34" charset="0"/>
      <p:regular r:id="rId32"/>
      <p:bold r:id="rId33"/>
    </p:embeddedFont>
    <p:embeddedFont>
      <p:font typeface="JetBrains Mono" panose="02000009000000000000" pitchFamily="49" charset="0"/>
      <p:regular r:id="rId34"/>
      <p:bold r:id="rId3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font" Target="fonts/font1.fntdata"/><Relationship Id="rId31" Type="http://schemas.openxmlformats.org/officeDocument/2006/relationships/font" Target="fonts/font2.fntdata"/><Relationship Id="rId32" Type="http://schemas.openxmlformats.org/officeDocument/2006/relationships/font" Target="fonts/font3.fntdata"/><Relationship Id="rId33" Type="http://schemas.openxmlformats.org/officeDocument/2006/relationships/font" Target="fonts/font4.fntdata"/><Relationship Id="rId34" Type="http://schemas.openxmlformats.org/officeDocument/2006/relationships/font" Target="fonts/font5.fntdata"/><Relationship Id="rId35"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1. Presentad al grupo y el título. Idea en una frase: nos dieron los datos de un bootcamp en CSV desordenados y los hemos convertido en una base de datos relacional bien diseñada, alojada en la nube y lista para consultar. Las cuatro etiquetas resumen el resultado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1. Presenta el reparto: siete bloques, en el mismo orden en que se construye una base de datos. Cada uno explica su parte y da paso al siguiente. Si queréis, añadid el nombre de cada ponente en su tarjeta.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1. El enunciado pide cuatro cosas en este orden. Ese orden es el clásico de los libros, pensado para cuando no hay datos y se diseña desde cero. Nosotros ya teníamos una tabla con datos, así que lo natural fue normalizarla primero: las entidades del E/R salen solas de la normalización. Además, el enunciado también pide que la base de datos pueda crecer en campus, verticales, promociones y modalidades.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1. Así vienen los datos: una fila por alumno con todo mezclado. Fijaos en tres detalles que luego importan. Una promoción es fecha + campus + vertical. La vertical no viene escrita: se deduce de los proyectos (HLF y EDA son de Data Science; WebDev y React, de Full Stack). Y el claustro menciona dos promociones que no tienen alumnos. Da paso al Ponente 2 con: “Si metemos esto tal cual en una tabla, tenemos problemas”.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2. Explica los cinco problemas con los ejemplos reales. Los tres últimos se llaman “anomalías” de actualización, inserción y borrado: es la palabra técnica que conviene decir. La idea clave: cuando un dato está repetido, tarde o temprano las copias dejan de coincidir.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2. Primera Forma Normal: cada celda guarda un solo valor y no hay grupos de columnas que signifiquen lo mismo. HLF, EDA, BBDD… eran la misma cosa, una nota, repartida en cinco columnas. Al pasarlas a filas, la tabla ya no cambia de forma cuando aparece un proyecto nuevo.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2. Segunda Forma Normal: si la clave tiene varias columnas, ningún dato puede depender solo de una parte. Tercera Forma Normal: ningún dato puede depender de otro dato que no sea la clave. La fecha depende de la promoción, no del alumno: esa cadena es la dependencia transitiva. Con esto, los cinco problemas de antes desaparecen. Da paso al Ponente 3: “De aquí salen las entidades del modelo 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3. De la normalización salieron alumnos y claustro, pero los dos tenían nombre y email. En lugar de repetirlos, los subimos a una entidad general, Persona, y Alumno y Profesor heredan de ella. Parcial: puede haber personas que todavía no sean ni alumno ni profesor. Solapada: una misma persona puede ser las dos cosas, por ejemplo un alumno que hace de ayudante en otra promoción. Todas las relaciones son N:M: un alumno puede hacer Data Science y después Full Stack, y con N:M la base de datos ya está preparada. Corrigen es nueva: antes solo se podía suponer quién corregía un proyecto; ahora se guarda.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3. Empieza arriba: Persona y su triángulo de herencia hacia Alumno y Profesor. Alumno participa en Promoción y realiza Proyectos (con la evaluación). Profesor enseña en Promoción y corrige Proyectos. Promoción tiene Proyectos. Lee alguna cardinalidad: una promoción puede existir sin alumnos (0,n), porque el claustro menciona dos promociones sin alumnos; todo proyecto lo corrige al menos un profesor (1,n). La modalidad aparece dos veces: la del profesor (en una misma promoción hay TA presenciales y LI online) y TipoModalidad en la promoción. Da paso al Ponente 4: “Ahora hay que convertir este dibujo en tablas”.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4. PK: la columna que identifica cada fila sin repetirse, por ejemplo persona.id. FK: una columna que apunta a la PK de otra tabla y así las enlaza. En la herencia, alumnos.id_persona es a la vez PK de alumnos y FK a persona.id: el alumno 1 es la persona 1. Como una persona puede estar en alumnos y en profesor a la vez, la herencia es solapada. Como todas nuestras relaciones son N:M, cada una crea su tabla intermedia.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4. Lee una fila de ejemplo: en alumnoProyecto, la fila (1, 2, No Apto) significa “el alumno 1, que es la persona 1, Jafet Casals, en el proyecto 2, EDA, tiene No Apto”. Las líneas con “pata de gallo” marcan el lado N de cada relación; entre persona y sus subclases la línea es 1:1. Tipos elegidos: los id son enteros autoincrementales, la fecha es DATE y la modalidad solo admite valores fijos (presencial u online). MesPromoción no se guarda porque se puede calcular: guardarlo sería redundancia.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5. Primero probamos el diseño en local con MySQL Workbench. El enunciado pide PostgreSQL alojado en un servidor; usamos Supabase, que es PostgreSQL gratuito en la nube (el enunciado sugería Render; los dos sirven). El orden de creación importa: una FK solo puede apuntar a una tabla que ya existe, así que primero van las tablas sin FK, después las subclases, que apuntan a persona, y al final las intermedias. Las tablas van en un esquema propio, v2, para no mezclarse con las de la primera versión del modelo. Como insertamos los id a mano, al final del script se reajustan los contadores: la siguiente persona que se dé de alta será la 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5. A la izquierda, el script de MySQL Workbench; a la derecha, la versión que ejecutamos en Supabase. Lo que cambia está en amarillo. Arriba: en MySQL creábamos la base de datos con CREATE DATABASE y USE; en Supabase la base ya existe, así que abrimos una transacción con BEGIN, creamos el esquema v2 y borramos las tablas si existían, para poder ejecutar el script varias veces. AUTO_INCREMENT pasa a GENERATED BY DEFAULT AS IDENTITY. Los ENUM de modalidad pasan a VARCHAR con CHECK, que hace lo mismo: solo deja guardar los valores de la lista. Fijaos en alumnos y profesor: su clave id_persona es a la vez PK y FK a persona; así se implementa la herencia.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5. Las 5 tablas intermedias (alumnosPromocion, profesorPromocion, alumnoProyecto, promocionProyecto y profesorProyecto) son exactamente iguales en MySQL y en PostgreSQL: clave primaria compuesta por las dos FK. Después de crear las tablas, el script hace los INSERT con los datos de los CSV. Al final cambian dos cosas: setval reajusta los contadores de los id, porque los insertamos a mano, y COMMIT confirma todo de golpe. En la consulta de comprobación, el mes de la promoción se calcula con EXTRACT en vez de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5. Las dos herramientas dibujan el esquema solas a partir de las claves foráneas, y coincide con nuestro modelo lógico: persona en el centro de la herencia, alumnos y profesor colgando de ella, y las 5 intermedias. La ingeniería inversa de Workbench (Database → Reverse Engineer) se lee mejor: muestra los tipos, marca PK y FK con iconos y usa la notación “pata de gallo” (una raya = 1, tres patas = N). Entre persona y alumnos, y entre persona y profesor, la relación es 1 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5. Primera consulta de la demo: contar las filas de cada tabla. Si es posible, ejecutadla en directo en Supabase. De dónde sale cada número: 62 personas, que son 52 alumnos y 10 profesores; 52 × 5 = 260 notas; 4 promociones × 5 proyectos = 20; 6 promociones porque dos solo aparecen en el claustro. Ojo con profesorProyecto: los CSV no dicen quién corrige cada proyecto, así que esas 18 filas son datos de ejemplo que hemos inventado para enseñar que el modelo lo permite. Los CSV tienen 62 filas; salen 500 porque al normalizar cada dato va a su tabla y las relaciones se guardan aparte. Da paso al Ponente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6 (o la compañera de Data Science que lo investigó). Nosotros cargamos los datos con un script SQL que ya tenía todos los INSERT escritos. Pero también investigamos cómo hacerlo de forma automática con Python. La flecha de arriba es el camino completo, en tres pasos. Paso 1: pandas, la librería de Python para trabajar con tablas, abre cada CSV con read_csv (el separador es punto y coma). Después iloc[:, 0:2] se queda solo con las dos primeras columnas: nombre y email. Esto se repite para las cuatro clases.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6 (o la compañera de Data Science). Paso 2. Primero, concat junta los cuatro DataFrames (las cuatro tablas que pandas tiene en memoria) en uno solo con los 52 alumnos, y duplicated comprueba que no haya ninguno repetido. Después, create_engine abre la conexión con la base de datos: aquí es un archivo SQLite llamado bootcamp.db. Por último, Table y Column crean la tabla alumnos con la misma estructura que en nuestro modelo lógico: id como clave primaria, nombre y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6 (o la compañera de Data Science). Paso 3. to_sql coge la lista de alumnos y la inserta entera en la tabla, en una sola línea; if_exists="append" significa “añádelos a la tabla que ya existe”. Para comprobarlo, lanzamos SELECT COUNT(*) y SELECT * … LIMIT 5, y salen los primeros alumnos: Jafet Casals, Jorge Manzanares, Onofre Adadia… Ha funcionado. Importante: lo probamos con SQLite, una base de datos en un archivo local, y solo con la tabla alumnos. Para hacerlo en Supabase bastaría cambiar la cadena de conexión por la de PostgreSQL. Las demás tablas se cargarían igual; para las notas habría que pasar las cinco columnas de proyectos a filas, que es la 1FN que explicamos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6. Ejecutad esta consulta en directo si podéis. Mensaje: la normalización repartió los datos en varias tablas, y los JOIN los vuelven a juntar para responder preguntas reales. Los porcentajes salen de los CSV. Los correctores son datos de ejemplo inventados, porque los CSV no los traen, pero enseñan algo que el modelo anterior no podía guardar: quién corrige cada proyecto, aunque sea de otra promoción. Criterio que seguimos: los TA corrigen los primeros proyectos de su vertical y los LI los más avanzados.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6. El enunciado pide que pueda crecer en campus, verticales, promociones y modalidades. Gracias a la normalización, casi todo se hace con un INSERT. El ejemplo es justo lo que aporta la herencia solapada: Jafet ya está en persona y en alumnos; para que sea TA basta con una fila en profesor. Su nombre y su email siguen guardados una sola vez. Sed honestos con el último punto: añadir una modalidad hoy obliga a cambiar el CHECK de la tabla; es la primera mejora de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Ponente 6. Cerrar con mejoras demuestra que entendemos los límites del diseño. La tabla modalidad cubriría por completo la escalabilidad que pide el enunciado. RLS (Row Level Security) está desactivado: cualquiera con la clave pública del proyecto podría leer y cambiar datos; para datos de ejemplo no es grave, pero en un caso real habría que activarlo. Corrigen une profesor con proyecto, no con la entrega de cada alumno: para saber quién corrigió el EDA de Jafet, el corrector tendría que ir dentro de alumnoProyecto, junto a la evaluación. Y los datos de partida no traen el email de los profesores (hoy está vacío) ni quién corrige: las correcciones que enseñamos son de ejemplo.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Ponente 6 resume en una frase y abre el turno de preguntas. Preguntas probables: ¿por qué N:M entre alumnos y promoción? (un alumno puede repetir bootcamp). ¿Por qué Supabase y no Render? (los dos son PostgreSQL gratuito; el script sirve en ambos). ¿Por qué la modalidad no está en promoción? (en una misma promoción hay profesores presenciales y online). ¿Por qué normalizasteis antes del E/R? (partíamos de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812763"/>
            <a:ext cx="10566466" cy="502956"/>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67" y="1620519"/>
            <a:ext cx="10566433" cy="4424681"/>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812763"/>
            <a:ext cx="10566466" cy="502956"/>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67" y="1620519"/>
            <a:ext cx="10566433" cy="4424681"/>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jpe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767" y="6238296"/>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C4"/>
                </a:solidFill>
                <a:latin typeface="Public Sans" pitchFamily="34" charset="0"/>
                <a:ea typeface="Public Sans" pitchFamily="34" charset="-122"/>
                <a:cs typeface="Public Sans" pitchFamily="34" charset="-120"/>
              </a:rPr>
              <a:t>Proyecto grupal · Equipo E · Octubre 2026</a:t>
            </a:r>
            <a:endParaRPr lang="en-US" sz="1200" dirty="0"/>
          </a:p>
        </p:txBody>
      </p:sp>
      <p:sp>
        <p:nvSpPr>
          <p:cNvPr id="3" name="Text 1"/>
          <p:cNvSpPr/>
          <p:nvPr/>
        </p:nvSpPr>
        <p:spPr>
          <a:xfrm>
            <a:off x="812767" y="1752534"/>
            <a:ext cx="10883374" cy="274274"/>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65A"/>
                </a:solidFill>
                <a:latin typeface="Public Sans" pitchFamily="34" charset="0"/>
                <a:ea typeface="Public Sans" pitchFamily="34" charset="-122"/>
                <a:cs typeface="Public Sans" pitchFamily="34" charset="-120"/>
              </a:rPr>
              <a:t>BOOTCAMP · DATA SCIENCE &amp; FULL STACK · MÓDULO SQL</a:t>
            </a:r>
            <a:endParaRPr lang="en-US" sz="1400" dirty="0"/>
          </a:p>
        </p:txBody>
      </p:sp>
      <p:sp>
        <p:nvSpPr>
          <p:cNvPr id="4" name="Text 2"/>
          <p:cNvSpPr/>
          <p:nvPr>
            <p:ph type="title"/>
          </p:nvPr>
        </p:nvSpPr>
        <p:spPr>
          <a:xfrm>
            <a:off x="812808" y="2235316"/>
            <a:ext cx="10883374" cy="1625468"/>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5F0"/>
                </a:solidFill>
                <a:latin typeface="Space Grotesk" pitchFamily="34" charset="0"/>
                <a:ea typeface="Space Grotesk" pitchFamily="34" charset="-122"/>
                <a:cs typeface="Space Grotesk" pitchFamily="34" charset="-120"/>
              </a:rPr>
              <a:t>De 5 CSV a una base de datos relacional</a:t>
            </a:r>
            <a:endParaRPr lang="en-US" sz="6000" dirty="0"/>
          </a:p>
        </p:txBody>
      </p:sp>
      <p:sp>
        <p:nvSpPr>
          <p:cNvPr id="5" name="Text 3"/>
          <p:cNvSpPr/>
          <p:nvPr/>
        </p:nvSpPr>
        <p:spPr>
          <a:xfrm>
            <a:off x="812767" y="4108400"/>
            <a:ext cx="9906000" cy="368283"/>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3E6"/>
                </a:solidFill>
                <a:latin typeface="Public Sans" pitchFamily="34" charset="0"/>
                <a:ea typeface="Public Sans" pitchFamily="34" charset="-122"/>
                <a:cs typeface="Public Sans" pitchFamily="34" charset="-120"/>
              </a:rPr>
              <a:t>Normalización, modelo E/R, modelo lógico y PostgreSQL en Supabase</a:t>
            </a:r>
            <a:endParaRPr lang="en-US" sz="2000" dirty="0"/>
          </a:p>
        </p:txBody>
      </p:sp>
      <p:sp>
        <p:nvSpPr>
          <p:cNvPr id="6" name="Text 4"/>
          <p:cNvSpPr/>
          <p:nvPr/>
        </p:nvSpPr>
        <p:spPr>
          <a:xfrm>
            <a:off x="812767" y="4705284"/>
            <a:ext cx="1093308" cy="406383"/>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Public Sans" pitchFamily="34" charset="0"/>
                <a:ea typeface="Public Sans" pitchFamily="34" charset="-122"/>
                <a:cs typeface="Public Sans" pitchFamily="34" charset="-120"/>
              </a:rPr>
              <a:t>10 tablas</a:t>
            </a:r>
            <a:endParaRPr lang="en-US" sz="1400" dirty="0"/>
          </a:p>
        </p:txBody>
      </p:sp>
      <p:sp>
        <p:nvSpPr>
          <p:cNvPr id="7" name="Text 5"/>
          <p:cNvSpPr/>
          <p:nvPr/>
        </p:nvSpPr>
        <p:spPr>
          <a:xfrm>
            <a:off x="2058458" y="4705284"/>
            <a:ext cx="1085122" cy="406383"/>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Public Sans" pitchFamily="34" charset="0"/>
                <a:ea typeface="Public Sans" pitchFamily="34" charset="-122"/>
                <a:cs typeface="Public Sans" pitchFamily="34" charset="-120"/>
              </a:rPr>
              <a:t>500 filas</a:t>
            </a:r>
            <a:endParaRPr lang="en-US" sz="1400" dirty="0"/>
          </a:p>
        </p:txBody>
      </p:sp>
      <p:sp>
        <p:nvSpPr>
          <p:cNvPr id="8" name="Text 6"/>
          <p:cNvSpPr/>
          <p:nvPr/>
        </p:nvSpPr>
        <p:spPr>
          <a:xfrm>
            <a:off x="3295964" y="4705284"/>
            <a:ext cx="707264" cy="406383"/>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Public Sans" pitchFamily="34" charset="0"/>
                <a:ea typeface="Public Sans" pitchFamily="34" charset="-122"/>
                <a:cs typeface="Public Sans" pitchFamily="34" charset="-120"/>
              </a:rPr>
              <a:t>3FN</a:t>
            </a:r>
            <a:endParaRPr lang="en-US" sz="1400" dirty="0"/>
          </a:p>
        </p:txBody>
      </p:sp>
      <p:sp>
        <p:nvSpPr>
          <p:cNvPr id="9" name="Text 7"/>
          <p:cNvSpPr/>
          <p:nvPr/>
        </p:nvSpPr>
        <p:spPr>
          <a:xfrm>
            <a:off x="4155612" y="4705284"/>
            <a:ext cx="2253836" cy="406383"/>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Public Sans" pitchFamily="34" charset="0"/>
                <a:ea typeface="Public Sans" pitchFamily="34" charset="-122"/>
                <a:cs typeface="Public Sans" pitchFamily="34" charset="-120"/>
              </a:rPr>
              <a:t>PostgreSQL en la nube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767" y="6238295"/>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 </a:t>
            </a:r>
            <a:endParaRPr lang="en-US" sz="1200" dirty="0"/>
          </a:p>
        </p:txBody>
      </p:sp>
      <p:sp>
        <p:nvSpPr>
          <p:cNvPr id="3" name="Text 1"/>
          <p:cNvSpPr/>
          <p:nvPr/>
        </p:nvSpPr>
        <p:spPr>
          <a:xfrm>
            <a:off x="10058433" y="6238295"/>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2</a:t>
            </a:r>
            <a:endParaRPr lang="en-US" sz="1200" dirty="0"/>
          </a:p>
        </p:txBody>
      </p:sp>
      <p:sp>
        <p:nvSpPr>
          <p:cNvPr id="4" name="Text 2"/>
          <p:cNvSpPr/>
          <p:nvPr>
            <p:ph type="title"/>
          </p:nvPr>
        </p:nvSpPr>
        <p:spPr>
          <a:xfrm>
            <a:off x="812767" y="812767"/>
            <a:ext cx="10883374" cy="52835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Cómo nos repartimos la presentación</a:t>
            </a:r>
            <a:endParaRPr lang="en-US" sz="3600" dirty="0"/>
          </a:p>
        </p:txBody>
      </p:sp>
      <p:sp>
        <p:nvSpPr>
          <p:cNvPr id="5" name="Shape 3"/>
          <p:cNvSpPr/>
          <p:nvPr/>
        </p:nvSpPr>
        <p:spPr>
          <a:xfrm>
            <a:off x="819117" y="1676367"/>
            <a:ext cx="2495550" cy="1803416"/>
          </a:xfrm>
          <a:prstGeom prst="roundRect">
            <a:avLst>
              <a:gd name="adj" fmla="val 6690"/>
            </a:avLst>
          </a:prstGeom>
          <a:solidFill>
            <a:srgbClr val="FFFFFF"/>
          </a:solidFill>
          <a:ln w="12700">
            <a:solidFill>
              <a:srgbClr val="DCE2EC"/>
            </a:solidFill>
            <a:prstDash val="solid"/>
          </a:ln>
        </p:spPr>
      </p:sp>
      <p:sp>
        <p:nvSpPr>
          <p:cNvPr id="6" name="Text 4"/>
          <p:cNvSpPr/>
          <p:nvPr/>
        </p:nvSpPr>
        <p:spPr>
          <a:xfrm>
            <a:off x="1013850" y="1871100"/>
            <a:ext cx="21692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EB"/>
                </a:solidFill>
                <a:latin typeface="Public Sans" pitchFamily="34" charset="0"/>
                <a:ea typeface="Public Sans" pitchFamily="34" charset="-122"/>
                <a:cs typeface="Public Sans" pitchFamily="34" charset="-120"/>
              </a:rPr>
              <a:t>Bloque 1 · diap. 1–4</a:t>
            </a:r>
            <a:endParaRPr lang="en-US" sz="1200" dirty="0"/>
          </a:p>
        </p:txBody>
      </p:sp>
      <p:sp>
        <p:nvSpPr>
          <p:cNvPr id="7" name="Text 5"/>
          <p:cNvSpPr/>
          <p:nvPr/>
        </p:nvSpPr>
        <p:spPr>
          <a:xfrm>
            <a:off x="1013850" y="2147920"/>
            <a:ext cx="2169266" cy="288247"/>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13D"/>
                </a:solidFill>
                <a:latin typeface="Space Grotesk" pitchFamily="34" charset="0"/>
                <a:ea typeface="Space Grotesk" pitchFamily="34" charset="-122"/>
                <a:cs typeface="Space Grotesk" pitchFamily="34" charset="-120"/>
              </a:rPr>
              <a:t>El reto y los datos</a:t>
            </a:r>
            <a:endParaRPr lang="en-US" sz="1800" dirty="0"/>
          </a:p>
        </p:txBody>
      </p:sp>
      <p:sp>
        <p:nvSpPr>
          <p:cNvPr id="8" name="Text 6"/>
          <p:cNvSpPr/>
          <p:nvPr/>
        </p:nvSpPr>
        <p:spPr>
          <a:xfrm>
            <a:off x="1013850" y="2474268"/>
            <a:ext cx="2169266"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E"/>
                </a:solidFill>
                <a:latin typeface="Public Sans" pitchFamily="34" charset="0"/>
                <a:ea typeface="Public Sans" pitchFamily="34" charset="-122"/>
                <a:cs typeface="Public Sans" pitchFamily="34" charset="-120"/>
              </a:rPr>
              <a:t>Qué nos pedían y con qué partíamos</a:t>
            </a:r>
            <a:endParaRPr lang="en-US" sz="1200" dirty="0"/>
          </a:p>
        </p:txBody>
      </p:sp>
      <p:sp>
        <p:nvSpPr>
          <p:cNvPr id="9" name="Shape 7"/>
          <p:cNvSpPr/>
          <p:nvPr/>
        </p:nvSpPr>
        <p:spPr>
          <a:xfrm>
            <a:off x="3505134" y="1676367"/>
            <a:ext cx="2495633" cy="1803416"/>
          </a:xfrm>
          <a:prstGeom prst="roundRect">
            <a:avLst>
              <a:gd name="adj" fmla="val 6690"/>
            </a:avLst>
          </a:prstGeom>
          <a:solidFill>
            <a:srgbClr val="FFFFFF"/>
          </a:solidFill>
          <a:ln w="12700">
            <a:solidFill>
              <a:srgbClr val="DCE2EC"/>
            </a:solidFill>
            <a:prstDash val="solid"/>
          </a:ln>
        </p:spPr>
      </p:sp>
      <p:sp>
        <p:nvSpPr>
          <p:cNvPr id="10" name="Text 8"/>
          <p:cNvSpPr/>
          <p:nvPr/>
        </p:nvSpPr>
        <p:spPr>
          <a:xfrm>
            <a:off x="3699867" y="1871100"/>
            <a:ext cx="21693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EB"/>
                </a:solidFill>
                <a:latin typeface="Public Sans" pitchFamily="34" charset="0"/>
                <a:ea typeface="Public Sans" pitchFamily="34" charset="-122"/>
                <a:cs typeface="Public Sans" pitchFamily="34" charset="-120"/>
              </a:rPr>
              <a:t>Bloque 2 · diap. 5–7</a:t>
            </a:r>
            <a:endParaRPr lang="en-US" sz="1200" dirty="0"/>
          </a:p>
        </p:txBody>
      </p:sp>
      <p:sp>
        <p:nvSpPr>
          <p:cNvPr id="11" name="Text 9"/>
          <p:cNvSpPr/>
          <p:nvPr/>
        </p:nvSpPr>
        <p:spPr>
          <a:xfrm>
            <a:off x="3699867" y="2147920"/>
            <a:ext cx="2169351" cy="288247"/>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13D"/>
                </a:solidFill>
                <a:latin typeface="Space Grotesk" pitchFamily="34" charset="0"/>
                <a:ea typeface="Space Grotesk" pitchFamily="34" charset="-122"/>
                <a:cs typeface="Space Grotesk" pitchFamily="34" charset="-120"/>
              </a:rPr>
              <a:t>Normalización</a:t>
            </a:r>
            <a:endParaRPr lang="en-US" sz="1800" dirty="0"/>
          </a:p>
        </p:txBody>
      </p:sp>
      <p:sp>
        <p:nvSpPr>
          <p:cNvPr id="12" name="Text 10"/>
          <p:cNvSpPr/>
          <p:nvPr/>
        </p:nvSpPr>
        <p:spPr>
          <a:xfrm>
            <a:off x="3699867" y="2474268"/>
            <a:ext cx="216935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E"/>
                </a:solidFill>
                <a:latin typeface="Public Sans" pitchFamily="34" charset="0"/>
                <a:ea typeface="Public Sans" pitchFamily="34" charset="-122"/>
                <a:cs typeface="Public Sans" pitchFamily="34" charset="-120"/>
              </a:rPr>
              <a:t>De la tabla original a 1FN, 2FN y 3FN</a:t>
            </a:r>
            <a:endParaRPr lang="en-US" sz="1200" dirty="0"/>
          </a:p>
        </p:txBody>
      </p:sp>
      <p:sp>
        <p:nvSpPr>
          <p:cNvPr id="13" name="Shape 11"/>
          <p:cNvSpPr/>
          <p:nvPr/>
        </p:nvSpPr>
        <p:spPr>
          <a:xfrm>
            <a:off x="6191233" y="1676367"/>
            <a:ext cx="2495550" cy="1803416"/>
          </a:xfrm>
          <a:prstGeom prst="roundRect">
            <a:avLst>
              <a:gd name="adj" fmla="val 6690"/>
            </a:avLst>
          </a:prstGeom>
          <a:solidFill>
            <a:srgbClr val="FFFFFF"/>
          </a:solidFill>
          <a:ln w="12700">
            <a:solidFill>
              <a:srgbClr val="DCE2EC"/>
            </a:solidFill>
            <a:prstDash val="solid"/>
          </a:ln>
        </p:spPr>
      </p:sp>
      <p:sp>
        <p:nvSpPr>
          <p:cNvPr id="14" name="Text 12"/>
          <p:cNvSpPr/>
          <p:nvPr/>
        </p:nvSpPr>
        <p:spPr>
          <a:xfrm>
            <a:off x="6385967" y="1871100"/>
            <a:ext cx="21692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EB"/>
                </a:solidFill>
                <a:latin typeface="Public Sans" pitchFamily="34" charset="0"/>
                <a:ea typeface="Public Sans" pitchFamily="34" charset="-122"/>
                <a:cs typeface="Public Sans" pitchFamily="34" charset="-120"/>
              </a:rPr>
              <a:t>Bloque 3 · diap. 8–9</a:t>
            </a:r>
            <a:endParaRPr lang="en-US" sz="1200" dirty="0"/>
          </a:p>
        </p:txBody>
      </p:sp>
      <p:sp>
        <p:nvSpPr>
          <p:cNvPr id="15" name="Text 13"/>
          <p:cNvSpPr/>
          <p:nvPr/>
        </p:nvSpPr>
        <p:spPr>
          <a:xfrm>
            <a:off x="6385967" y="2147920"/>
            <a:ext cx="2169266" cy="288247"/>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13D"/>
                </a:solidFill>
                <a:latin typeface="Space Grotesk" pitchFamily="34" charset="0"/>
                <a:ea typeface="Space Grotesk" pitchFamily="34" charset="-122"/>
                <a:cs typeface="Space Grotesk" pitchFamily="34" charset="-120"/>
              </a:rPr>
              <a:t>Modelo E/R</a:t>
            </a:r>
            <a:endParaRPr lang="en-US" sz="1800" dirty="0"/>
          </a:p>
        </p:txBody>
      </p:sp>
      <p:sp>
        <p:nvSpPr>
          <p:cNvPr id="16" name="Text 14"/>
          <p:cNvSpPr/>
          <p:nvPr/>
        </p:nvSpPr>
        <p:spPr>
          <a:xfrm>
            <a:off x="6385967" y="2474268"/>
            <a:ext cx="2169266"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E"/>
                </a:solidFill>
                <a:latin typeface="Public Sans" pitchFamily="34" charset="0"/>
                <a:ea typeface="Public Sans" pitchFamily="34" charset="-122"/>
                <a:cs typeface="Public Sans" pitchFamily="34" charset="-120"/>
              </a:rPr>
              <a:t>Entidades, atributos y relaciones</a:t>
            </a:r>
            <a:endParaRPr lang="en-US" sz="1200" dirty="0"/>
          </a:p>
        </p:txBody>
      </p:sp>
      <p:sp>
        <p:nvSpPr>
          <p:cNvPr id="17" name="Shape 15"/>
          <p:cNvSpPr/>
          <p:nvPr/>
        </p:nvSpPr>
        <p:spPr>
          <a:xfrm>
            <a:off x="8877250" y="1676367"/>
            <a:ext cx="2495550" cy="1803416"/>
          </a:xfrm>
          <a:prstGeom prst="roundRect">
            <a:avLst>
              <a:gd name="adj" fmla="val 6690"/>
            </a:avLst>
          </a:prstGeom>
          <a:solidFill>
            <a:srgbClr val="FFFFFF"/>
          </a:solidFill>
          <a:ln w="12700">
            <a:solidFill>
              <a:srgbClr val="DCE2EC"/>
            </a:solidFill>
            <a:prstDash val="solid"/>
          </a:ln>
        </p:spPr>
      </p:sp>
      <p:sp>
        <p:nvSpPr>
          <p:cNvPr id="18" name="Text 16"/>
          <p:cNvSpPr/>
          <p:nvPr/>
        </p:nvSpPr>
        <p:spPr>
          <a:xfrm>
            <a:off x="9071983" y="1871100"/>
            <a:ext cx="21692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EB"/>
                </a:solidFill>
                <a:latin typeface="Public Sans" pitchFamily="34" charset="0"/>
                <a:ea typeface="Public Sans" pitchFamily="34" charset="-122"/>
                <a:cs typeface="Public Sans" pitchFamily="34" charset="-120"/>
              </a:rPr>
              <a:t>Bloque 4 · diap. 10–11</a:t>
            </a:r>
            <a:endParaRPr lang="en-US" sz="1200" dirty="0"/>
          </a:p>
        </p:txBody>
      </p:sp>
      <p:sp>
        <p:nvSpPr>
          <p:cNvPr id="19" name="Text 17"/>
          <p:cNvSpPr/>
          <p:nvPr/>
        </p:nvSpPr>
        <p:spPr>
          <a:xfrm>
            <a:off x="9071983" y="2147920"/>
            <a:ext cx="2169266" cy="288247"/>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13D"/>
                </a:solidFill>
                <a:latin typeface="Space Grotesk" pitchFamily="34" charset="0"/>
                <a:ea typeface="Space Grotesk" pitchFamily="34" charset="-122"/>
                <a:cs typeface="Space Grotesk" pitchFamily="34" charset="-120"/>
              </a:rPr>
              <a:t>Modelo lógico</a:t>
            </a:r>
            <a:endParaRPr lang="en-US" sz="1800" dirty="0"/>
          </a:p>
        </p:txBody>
      </p:sp>
      <p:sp>
        <p:nvSpPr>
          <p:cNvPr id="20" name="Text 18"/>
          <p:cNvSpPr/>
          <p:nvPr/>
        </p:nvSpPr>
        <p:spPr>
          <a:xfrm>
            <a:off x="9071983" y="2474268"/>
            <a:ext cx="2169266"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E"/>
                </a:solidFill>
                <a:latin typeface="Public Sans" pitchFamily="34" charset="0"/>
                <a:ea typeface="Public Sans" pitchFamily="34" charset="-122"/>
                <a:cs typeface="Public Sans" pitchFamily="34" charset="-120"/>
              </a:rPr>
              <a:t>Paso a tablas, PK y FK</a:t>
            </a:r>
            <a:endParaRPr lang="en-US" sz="1200" dirty="0"/>
          </a:p>
        </p:txBody>
      </p:sp>
      <p:sp>
        <p:nvSpPr>
          <p:cNvPr id="21" name="Shape 19"/>
          <p:cNvSpPr/>
          <p:nvPr/>
        </p:nvSpPr>
        <p:spPr>
          <a:xfrm>
            <a:off x="819117" y="3670250"/>
            <a:ext cx="3397945" cy="1803416"/>
          </a:xfrm>
          <a:prstGeom prst="roundRect">
            <a:avLst>
              <a:gd name="adj" fmla="val 6690"/>
            </a:avLst>
          </a:prstGeom>
          <a:solidFill>
            <a:srgbClr val="FFFFFF"/>
          </a:solidFill>
          <a:ln w="12700">
            <a:solidFill>
              <a:srgbClr val="DCE2EC"/>
            </a:solidFill>
            <a:prstDash val="solid"/>
          </a:ln>
        </p:spPr>
      </p:sp>
      <p:sp>
        <p:nvSpPr>
          <p:cNvPr id="22" name="Text 20"/>
          <p:cNvSpPr/>
          <p:nvPr/>
        </p:nvSpPr>
        <p:spPr>
          <a:xfrm>
            <a:off x="1013850" y="3864983"/>
            <a:ext cx="30987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EB"/>
                </a:solidFill>
                <a:latin typeface="Public Sans" pitchFamily="34" charset="0"/>
                <a:ea typeface="Public Sans" pitchFamily="34" charset="-122"/>
                <a:cs typeface="Public Sans" pitchFamily="34" charset="-120"/>
              </a:rPr>
              <a:t>Bloque 5 · diap. 12–16</a:t>
            </a:r>
            <a:endParaRPr lang="en-US" sz="1200" dirty="0"/>
          </a:p>
        </p:txBody>
      </p:sp>
      <p:sp>
        <p:nvSpPr>
          <p:cNvPr id="23" name="Text 21"/>
          <p:cNvSpPr/>
          <p:nvPr/>
        </p:nvSpPr>
        <p:spPr>
          <a:xfrm>
            <a:off x="1013850" y="4141804"/>
            <a:ext cx="3098732" cy="288247"/>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13D"/>
                </a:solidFill>
                <a:latin typeface="Space Grotesk" pitchFamily="34" charset="0"/>
                <a:ea typeface="Space Grotesk" pitchFamily="34" charset="-122"/>
                <a:cs typeface="Space Grotesk" pitchFamily="34" charset="-120"/>
              </a:rPr>
              <a:t>Creación en PostgreSQL</a:t>
            </a:r>
            <a:endParaRPr lang="en-US" sz="1800" dirty="0"/>
          </a:p>
        </p:txBody>
      </p:sp>
      <p:sp>
        <p:nvSpPr>
          <p:cNvPr id="24" name="Text 22"/>
          <p:cNvSpPr/>
          <p:nvPr/>
        </p:nvSpPr>
        <p:spPr>
          <a:xfrm>
            <a:off x="1013850" y="4468151"/>
            <a:ext cx="3098732"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E"/>
                </a:solidFill>
                <a:latin typeface="Public Sans" pitchFamily="34" charset="0"/>
                <a:ea typeface="Public Sans" pitchFamily="34" charset="-122"/>
                <a:cs typeface="Public Sans" pitchFamily="34" charset="-120"/>
              </a:rPr>
              <a:t>Del script MySQL a Supabase, con los datos cargados</a:t>
            </a:r>
            <a:endParaRPr lang="en-US" sz="1200" dirty="0"/>
          </a:p>
        </p:txBody>
      </p:sp>
      <p:sp>
        <p:nvSpPr>
          <p:cNvPr id="25" name="Shape 23"/>
          <p:cNvSpPr/>
          <p:nvPr/>
        </p:nvSpPr>
        <p:spPr>
          <a:xfrm>
            <a:off x="4407528" y="3670250"/>
            <a:ext cx="3398027" cy="1803416"/>
          </a:xfrm>
          <a:prstGeom prst="roundRect">
            <a:avLst>
              <a:gd name="adj" fmla="val 6690"/>
            </a:avLst>
          </a:prstGeom>
          <a:solidFill>
            <a:srgbClr val="FFFFFF"/>
          </a:solidFill>
          <a:ln w="12700">
            <a:solidFill>
              <a:srgbClr val="DCE2EC"/>
            </a:solidFill>
            <a:prstDash val="solid"/>
          </a:ln>
        </p:spPr>
      </p:sp>
      <p:sp>
        <p:nvSpPr>
          <p:cNvPr id="26" name="Text 24"/>
          <p:cNvSpPr/>
          <p:nvPr/>
        </p:nvSpPr>
        <p:spPr>
          <a:xfrm>
            <a:off x="4602262" y="3864983"/>
            <a:ext cx="309881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EB"/>
                </a:solidFill>
                <a:latin typeface="Public Sans" pitchFamily="34" charset="0"/>
                <a:ea typeface="Public Sans" pitchFamily="34" charset="-122"/>
                <a:cs typeface="Public Sans" pitchFamily="34" charset="-120"/>
              </a:rPr>
              <a:t>Bloque 6 · diap. 17–21</a:t>
            </a:r>
            <a:endParaRPr lang="en-US" sz="1200" dirty="0"/>
          </a:p>
        </p:txBody>
      </p:sp>
      <p:sp>
        <p:nvSpPr>
          <p:cNvPr id="27" name="Text 25"/>
          <p:cNvSpPr/>
          <p:nvPr/>
        </p:nvSpPr>
        <p:spPr>
          <a:xfrm>
            <a:off x="4602262" y="4141804"/>
            <a:ext cx="3098817" cy="288247"/>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213D"/>
                </a:solidFill>
                <a:latin typeface="Space Grotesk" pitchFamily="34" charset="0"/>
                <a:ea typeface="Space Grotesk" pitchFamily="34" charset="-122"/>
                <a:cs typeface="Space Grotesk" pitchFamily="34" charset="-120"/>
              </a:rPr>
              <a:t>Python y demo</a:t>
            </a:r>
            <a:endParaRPr lang="en-US" sz="1800" dirty="0"/>
          </a:p>
        </p:txBody>
      </p:sp>
      <p:sp>
        <p:nvSpPr>
          <p:cNvPr id="28" name="Text 26"/>
          <p:cNvSpPr/>
          <p:nvPr/>
        </p:nvSpPr>
        <p:spPr>
          <a:xfrm>
            <a:off x="4602262" y="4468151"/>
            <a:ext cx="309881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E"/>
                </a:solidFill>
                <a:latin typeface="Public Sans" pitchFamily="34" charset="0"/>
                <a:ea typeface="Public Sans" pitchFamily="34" charset="-122"/>
                <a:cs typeface="Public Sans" pitchFamily="34" charset="-120"/>
              </a:rPr>
              <a:t>Carga con pandas, consultas y escalabilidad</a:t>
            </a:r>
            <a:endParaRPr lang="en-US" sz="1200" dirty="0"/>
          </a:p>
        </p:txBody>
      </p:sp>
      <p:sp>
        <p:nvSpPr>
          <p:cNvPr id="29" name="Shape 27"/>
          <p:cNvSpPr/>
          <p:nvPr/>
        </p:nvSpPr>
        <p:spPr>
          <a:xfrm>
            <a:off x="7989672" y="3663900"/>
            <a:ext cx="3389478" cy="1816116"/>
          </a:xfrm>
          <a:prstGeom prst="roundRect">
            <a:avLst>
              <a:gd name="adj" fmla="val 6993"/>
            </a:avLst>
          </a:prstGeom>
          <a:solidFill>
            <a:srgbClr val="14213D"/>
          </a:solidFill>
          <a:ln/>
        </p:spPr>
      </p:sp>
      <p:sp>
        <p:nvSpPr>
          <p:cNvPr id="30" name="Text 28"/>
          <p:cNvSpPr/>
          <p:nvPr/>
        </p:nvSpPr>
        <p:spPr>
          <a:xfrm>
            <a:off x="8180172" y="3854400"/>
            <a:ext cx="30987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5A"/>
                </a:solidFill>
                <a:latin typeface="Public Sans" pitchFamily="34" charset="0"/>
                <a:ea typeface="Public Sans" pitchFamily="34" charset="-122"/>
                <a:cs typeface="Public Sans" pitchFamily="34" charset="-120"/>
              </a:rPr>
              <a:t>Bloque 7 · diap. 22–23</a:t>
            </a:r>
            <a:endParaRPr lang="en-US" sz="1200" dirty="0"/>
          </a:p>
        </p:txBody>
      </p:sp>
      <p:sp>
        <p:nvSpPr>
          <p:cNvPr id="31" name="Text 29"/>
          <p:cNvSpPr/>
          <p:nvPr/>
        </p:nvSpPr>
        <p:spPr>
          <a:xfrm>
            <a:off x="8180172" y="4131221"/>
            <a:ext cx="3098732" cy="288247"/>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6F5F0"/>
                </a:solidFill>
                <a:latin typeface="Space Grotesk" pitchFamily="34" charset="0"/>
                <a:ea typeface="Space Grotesk" pitchFamily="34" charset="-122"/>
                <a:cs typeface="Space Grotesk" pitchFamily="34" charset="-120"/>
              </a:rPr>
              <a:t>Mejoras y cierre</a:t>
            </a:r>
            <a:endParaRPr lang="en-US" sz="1800" dirty="0"/>
          </a:p>
        </p:txBody>
      </p:sp>
      <p:sp>
        <p:nvSpPr>
          <p:cNvPr id="32" name="Text 30"/>
          <p:cNvSpPr/>
          <p:nvPr/>
        </p:nvSpPr>
        <p:spPr>
          <a:xfrm>
            <a:off x="8180172" y="4457567"/>
            <a:ext cx="3098732"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3E6"/>
                </a:solidFill>
                <a:latin typeface="Public Sans" pitchFamily="34" charset="0"/>
                <a:ea typeface="Public Sans" pitchFamily="34" charset="-122"/>
                <a:cs typeface="Public Sans" pitchFamily="34" charset="-120"/>
              </a:rPr>
              <a:t>Qué mejoraríamos y preguntas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767" y="6238295"/>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1 · </a:t>
            </a:r>
            <a:endParaRPr lang="en-US" sz="1200" dirty="0"/>
          </a:p>
        </p:txBody>
      </p:sp>
      <p:sp>
        <p:nvSpPr>
          <p:cNvPr id="3" name="Text 1"/>
          <p:cNvSpPr/>
          <p:nvPr/>
        </p:nvSpPr>
        <p:spPr>
          <a:xfrm>
            <a:off x="10058433" y="6238295"/>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3</a:t>
            </a:r>
            <a:endParaRPr lang="en-US" sz="1200" dirty="0"/>
          </a:p>
        </p:txBody>
      </p:sp>
      <p:sp>
        <p:nvSpPr>
          <p:cNvPr id="4" name="Text 2"/>
          <p:cNvSpPr/>
          <p:nvPr>
            <p:ph type="title"/>
          </p:nvPr>
        </p:nvSpPr>
        <p:spPr>
          <a:xfrm>
            <a:off x="812767" y="812766"/>
            <a:ext cx="10883374" cy="52835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Qué nos pedía el enunciado</a:t>
            </a:r>
            <a:endParaRPr lang="en-US" sz="3600" dirty="0"/>
          </a:p>
        </p:txBody>
      </p:sp>
      <p:sp>
        <p:nvSpPr>
          <p:cNvPr id="5" name="Shape 3"/>
          <p:cNvSpPr/>
          <p:nvPr/>
        </p:nvSpPr>
        <p:spPr>
          <a:xfrm>
            <a:off x="819117" y="1676366"/>
            <a:ext cx="2495550" cy="1968450"/>
          </a:xfrm>
          <a:prstGeom prst="roundRect">
            <a:avLst>
              <a:gd name="adj" fmla="val 6129"/>
            </a:avLst>
          </a:prstGeom>
          <a:solidFill>
            <a:srgbClr val="FFFFFF"/>
          </a:solidFill>
          <a:ln w="12700">
            <a:solidFill>
              <a:srgbClr val="DCE2EC"/>
            </a:solidFill>
            <a:prstDash val="solid"/>
          </a:ln>
        </p:spPr>
      </p:sp>
      <p:sp>
        <p:nvSpPr>
          <p:cNvPr id="6" name="Text 4"/>
          <p:cNvSpPr/>
          <p:nvPr/>
        </p:nvSpPr>
        <p:spPr>
          <a:xfrm>
            <a:off x="1051884" y="1909133"/>
            <a:ext cx="2090916" cy="594337"/>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Space Grotesk" pitchFamily="34" charset="0"/>
                <a:ea typeface="Space Grotesk" pitchFamily="34" charset="-122"/>
                <a:cs typeface="Space Grotesk" pitchFamily="34" charset="-120"/>
              </a:rPr>
              <a:t>1</a:t>
            </a:r>
            <a:endParaRPr lang="en-US" sz="3200" dirty="0"/>
          </a:p>
        </p:txBody>
      </p:sp>
      <p:sp>
        <p:nvSpPr>
          <p:cNvPr id="7" name="Text 5"/>
          <p:cNvSpPr/>
          <p:nvPr/>
        </p:nvSpPr>
        <p:spPr>
          <a:xfrm>
            <a:off x="1051884" y="2579604"/>
            <a:ext cx="2090916" cy="28444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Public Sans" pitchFamily="34" charset="0"/>
                <a:ea typeface="Public Sans" pitchFamily="34" charset="-122"/>
                <a:cs typeface="Public Sans" pitchFamily="34" charset="-120"/>
              </a:rPr>
              <a:t>Modelo E/R</a:t>
            </a:r>
            <a:endParaRPr lang="en-US" sz="1700" dirty="0"/>
          </a:p>
        </p:txBody>
      </p:sp>
      <p:sp>
        <p:nvSpPr>
          <p:cNvPr id="8" name="Text 6"/>
          <p:cNvSpPr/>
          <p:nvPr/>
        </p:nvSpPr>
        <p:spPr>
          <a:xfrm>
            <a:off x="1051884" y="2940182"/>
            <a:ext cx="2090916"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Public Sans" pitchFamily="34" charset="0"/>
                <a:ea typeface="Public Sans" pitchFamily="34" charset="-122"/>
                <a:cs typeface="Public Sans" pitchFamily="34" charset="-120"/>
              </a:rPr>
              <a:t>Entidades, atributos y relaciones</a:t>
            </a:r>
            <a:endParaRPr lang="en-US" sz="1300" dirty="0"/>
          </a:p>
        </p:txBody>
      </p:sp>
      <p:sp>
        <p:nvSpPr>
          <p:cNvPr id="9" name="Shape 7"/>
          <p:cNvSpPr/>
          <p:nvPr/>
        </p:nvSpPr>
        <p:spPr>
          <a:xfrm>
            <a:off x="3505134" y="1676366"/>
            <a:ext cx="2495633" cy="1968450"/>
          </a:xfrm>
          <a:prstGeom prst="roundRect">
            <a:avLst>
              <a:gd name="adj" fmla="val 6129"/>
            </a:avLst>
          </a:prstGeom>
          <a:solidFill>
            <a:srgbClr val="FFFFFF"/>
          </a:solidFill>
          <a:ln w="12700">
            <a:solidFill>
              <a:srgbClr val="DCE2EC"/>
            </a:solidFill>
            <a:prstDash val="solid"/>
          </a:ln>
        </p:spPr>
      </p:sp>
      <p:sp>
        <p:nvSpPr>
          <p:cNvPr id="10" name="Text 8"/>
          <p:cNvSpPr/>
          <p:nvPr/>
        </p:nvSpPr>
        <p:spPr>
          <a:xfrm>
            <a:off x="3737901" y="1909133"/>
            <a:ext cx="2091001" cy="594337"/>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Space Grotesk" pitchFamily="34" charset="0"/>
                <a:ea typeface="Space Grotesk" pitchFamily="34" charset="-122"/>
                <a:cs typeface="Space Grotesk" pitchFamily="34" charset="-120"/>
              </a:rPr>
              <a:t>2</a:t>
            </a:r>
            <a:endParaRPr lang="en-US" sz="3200" dirty="0"/>
          </a:p>
        </p:txBody>
      </p:sp>
      <p:sp>
        <p:nvSpPr>
          <p:cNvPr id="11" name="Text 9"/>
          <p:cNvSpPr/>
          <p:nvPr/>
        </p:nvSpPr>
        <p:spPr>
          <a:xfrm>
            <a:off x="3737901" y="2579604"/>
            <a:ext cx="2091001" cy="28444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Public Sans" pitchFamily="34" charset="0"/>
                <a:ea typeface="Public Sans" pitchFamily="34" charset="-122"/>
                <a:cs typeface="Public Sans" pitchFamily="34" charset="-120"/>
              </a:rPr>
              <a:t>Modelo lógico</a:t>
            </a:r>
            <a:endParaRPr lang="en-US" sz="1700" dirty="0"/>
          </a:p>
        </p:txBody>
      </p:sp>
      <p:sp>
        <p:nvSpPr>
          <p:cNvPr id="12" name="Text 10"/>
          <p:cNvSpPr/>
          <p:nvPr/>
        </p:nvSpPr>
        <p:spPr>
          <a:xfrm>
            <a:off x="3737901" y="2940182"/>
            <a:ext cx="2091001"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Public Sans" pitchFamily="34" charset="0"/>
                <a:ea typeface="Public Sans" pitchFamily="34" charset="-122"/>
                <a:cs typeface="Public Sans" pitchFamily="34" charset="-120"/>
              </a:rPr>
              <a:t>Tablas, campos, PK y FK</a:t>
            </a:r>
            <a:endParaRPr lang="en-US" sz="1300" dirty="0"/>
          </a:p>
        </p:txBody>
      </p:sp>
      <p:sp>
        <p:nvSpPr>
          <p:cNvPr id="13" name="Shape 11"/>
          <p:cNvSpPr/>
          <p:nvPr/>
        </p:nvSpPr>
        <p:spPr>
          <a:xfrm>
            <a:off x="6191233" y="1676366"/>
            <a:ext cx="2495550" cy="1968450"/>
          </a:xfrm>
          <a:prstGeom prst="roundRect">
            <a:avLst>
              <a:gd name="adj" fmla="val 6129"/>
            </a:avLst>
          </a:prstGeom>
          <a:solidFill>
            <a:srgbClr val="FFFFFF"/>
          </a:solidFill>
          <a:ln w="12700">
            <a:solidFill>
              <a:srgbClr val="DCE2EC"/>
            </a:solidFill>
            <a:prstDash val="solid"/>
          </a:ln>
        </p:spPr>
      </p:sp>
      <p:sp>
        <p:nvSpPr>
          <p:cNvPr id="14" name="Text 12"/>
          <p:cNvSpPr/>
          <p:nvPr/>
        </p:nvSpPr>
        <p:spPr>
          <a:xfrm>
            <a:off x="6424001" y="1909133"/>
            <a:ext cx="2090916" cy="594337"/>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Space Grotesk" pitchFamily="34" charset="0"/>
                <a:ea typeface="Space Grotesk" pitchFamily="34" charset="-122"/>
                <a:cs typeface="Space Grotesk" pitchFamily="34" charset="-120"/>
              </a:rPr>
              <a:t>3</a:t>
            </a:r>
            <a:endParaRPr lang="en-US" sz="3200" dirty="0"/>
          </a:p>
        </p:txBody>
      </p:sp>
      <p:sp>
        <p:nvSpPr>
          <p:cNvPr id="15" name="Text 13"/>
          <p:cNvSpPr/>
          <p:nvPr/>
        </p:nvSpPr>
        <p:spPr>
          <a:xfrm>
            <a:off x="6424001" y="2579604"/>
            <a:ext cx="2090916" cy="28444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Public Sans" pitchFamily="34" charset="0"/>
                <a:ea typeface="Public Sans" pitchFamily="34" charset="-122"/>
                <a:cs typeface="Public Sans" pitchFamily="34" charset="-120"/>
              </a:rPr>
              <a:t>Normalización</a:t>
            </a:r>
            <a:endParaRPr lang="en-US" sz="1700" dirty="0"/>
          </a:p>
        </p:txBody>
      </p:sp>
      <p:sp>
        <p:nvSpPr>
          <p:cNvPr id="16" name="Text 14"/>
          <p:cNvSpPr/>
          <p:nvPr/>
        </p:nvSpPr>
        <p:spPr>
          <a:xfrm>
            <a:off x="6424001" y="2940182"/>
            <a:ext cx="2090916"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Public Sans" pitchFamily="34" charset="0"/>
                <a:ea typeface="Public Sans" pitchFamily="34" charset="-122"/>
                <a:cs typeface="Public Sans" pitchFamily="34" charset="-120"/>
              </a:rPr>
              <a:t>Sin redundancia y con integridad</a:t>
            </a:r>
            <a:endParaRPr lang="en-US" sz="1300" dirty="0"/>
          </a:p>
        </p:txBody>
      </p:sp>
      <p:sp>
        <p:nvSpPr>
          <p:cNvPr id="17" name="Shape 15"/>
          <p:cNvSpPr/>
          <p:nvPr/>
        </p:nvSpPr>
        <p:spPr>
          <a:xfrm>
            <a:off x="8877250" y="1676366"/>
            <a:ext cx="2495550" cy="1968450"/>
          </a:xfrm>
          <a:prstGeom prst="roundRect">
            <a:avLst>
              <a:gd name="adj" fmla="val 6129"/>
            </a:avLst>
          </a:prstGeom>
          <a:solidFill>
            <a:srgbClr val="FFFFFF"/>
          </a:solidFill>
          <a:ln w="12700">
            <a:solidFill>
              <a:srgbClr val="DCE2EC"/>
            </a:solidFill>
            <a:prstDash val="solid"/>
          </a:ln>
        </p:spPr>
      </p:sp>
      <p:sp>
        <p:nvSpPr>
          <p:cNvPr id="18" name="Text 16"/>
          <p:cNvSpPr/>
          <p:nvPr/>
        </p:nvSpPr>
        <p:spPr>
          <a:xfrm>
            <a:off x="9110018" y="1909133"/>
            <a:ext cx="2090916" cy="594337"/>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Space Grotesk" pitchFamily="34" charset="0"/>
                <a:ea typeface="Space Grotesk" pitchFamily="34" charset="-122"/>
                <a:cs typeface="Space Grotesk" pitchFamily="34" charset="-120"/>
              </a:rPr>
              <a:t>4</a:t>
            </a:r>
            <a:endParaRPr lang="en-US" sz="3200" dirty="0"/>
          </a:p>
        </p:txBody>
      </p:sp>
      <p:sp>
        <p:nvSpPr>
          <p:cNvPr id="19" name="Text 17"/>
          <p:cNvSpPr/>
          <p:nvPr/>
        </p:nvSpPr>
        <p:spPr>
          <a:xfrm>
            <a:off x="9110018" y="2579604"/>
            <a:ext cx="2090916" cy="28444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Public Sans" pitchFamily="34" charset="0"/>
                <a:ea typeface="Public Sans" pitchFamily="34" charset="-122"/>
                <a:cs typeface="Public Sans" pitchFamily="34" charset="-120"/>
              </a:rPr>
              <a:t>Base de datos</a:t>
            </a:r>
            <a:endParaRPr lang="en-US" sz="1700" dirty="0"/>
          </a:p>
        </p:txBody>
      </p:sp>
      <p:sp>
        <p:nvSpPr>
          <p:cNvPr id="20" name="Text 18"/>
          <p:cNvSpPr/>
          <p:nvPr/>
        </p:nvSpPr>
        <p:spPr>
          <a:xfrm>
            <a:off x="9110018" y="2940182"/>
            <a:ext cx="2090916"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Public Sans" pitchFamily="34" charset="0"/>
                <a:ea typeface="Public Sans" pitchFamily="34" charset="-122"/>
                <a:cs typeface="Public Sans" pitchFamily="34" charset="-120"/>
              </a:rPr>
              <a:t>PostgreSQL alojado en un servidor</a:t>
            </a:r>
            <a:endParaRPr lang="en-US" sz="1300" dirty="0"/>
          </a:p>
        </p:txBody>
      </p:sp>
      <p:sp>
        <p:nvSpPr>
          <p:cNvPr id="21" name="Text 19"/>
          <p:cNvSpPr/>
          <p:nvPr/>
        </p:nvSpPr>
        <p:spPr>
          <a:xfrm>
            <a:off x="812767" y="4000500"/>
            <a:ext cx="10566383" cy="990534"/>
          </a:xfrm>
          <a:prstGeom prst="roundRect">
            <a:avLst>
              <a:gd name="adj" fmla="val 12821"/>
            </a:avLst>
          </a:prstGeom>
          <a:solidFill>
            <a:srgbClr val="14213D"/>
          </a:solidFill>
          <a:ln/>
        </p:spPr>
        <p:txBody>
          <a:bodyPr wrap="none" lIns="242203" tIns="191403" rIns="242203" bIns="191403" rtlCol="0" anchor="ctr">
            <a:normAutofit/>
          </a:bodyPr>
          <a:lstStyle/>
          <a:p>
            <a:pPr algn="l" indent="0" marL="0">
              <a:lnSpc>
                <a:spcPts val="2100"/>
              </a:lnSpc>
              <a:buNone/>
            </a:pPr>
            <a:r>
              <a:rPr lang="en-US" sz="1500" b="1" dirty="0">
                <a:solidFill>
                  <a:srgbClr val="F2A65A"/>
                </a:solidFill>
                <a:latin typeface="Public Sans" pitchFamily="34" charset="0"/>
                <a:ea typeface="Public Sans" pitchFamily="34" charset="-122"/>
                <a:cs typeface="Public Sans" pitchFamily="34" charset="-120"/>
              </a:rPr>
              <a:t>Nuestro orden</a:t>
            </a:r>
            <a:endParaRPr lang="en-US" sz="1500" dirty="0"/>
          </a:p>
        </p:txBody>
      </p:sp>
      <p:sp>
        <p:nvSpPr>
          <p:cNvPr id="22" name="Text 20"/>
          <p:cNvSpPr/>
          <p:nvPr/>
        </p:nvSpPr>
        <p:spPr>
          <a:xfrm>
            <a:off x="2602673" y="4305928"/>
            <a:ext cx="8752007" cy="481889"/>
          </a:xfrm>
          <a:prstGeom prst="rect">
            <a:avLst/>
          </a:prstGeom>
          <a:noFill/>
          <a:ln/>
        </p:spPr>
        <p:txBody>
          <a:bodyPr wrap="square" lIns="0" tIns="0" rIns="0" bIns="0" rtlCol="0" anchor="t">
            <a:normAutofit/>
          </a:bodyPr>
          <a:lstStyle/>
          <a:p>
            <a:pPr algn="l" indent="0" marL="0">
              <a:lnSpc>
                <a:spcPts val="1811"/>
              </a:lnSpc>
              <a:buNone/>
            </a:pPr>
            <a:r>
              <a:rPr lang="en-US" sz="1294" dirty="0">
                <a:solidFill>
                  <a:srgbClr val="F6F5F0"/>
                </a:solidFill>
                <a:latin typeface="Public Sans" pitchFamily="34" charset="0"/>
                <a:ea typeface="Public Sans" pitchFamily="34" charset="-122"/>
                <a:cs typeface="Public Sans" pitchFamily="34" charset="-120"/>
              </a:rPr>
              <a:t>Como partíamos de datos reales, </a:t>
            </a:r>
            <a:r>
              <a:rPr lang="en-US" sz="1294" b="1" dirty="0">
                <a:solidFill>
                  <a:srgbClr val="F6F5F0"/>
                </a:solidFill>
                <a:latin typeface="Public Sans" pitchFamily="34" charset="0"/>
                <a:ea typeface="Public Sans" pitchFamily="34" charset="-122"/>
                <a:cs typeface="Public Sans" pitchFamily="34" charset="-120"/>
              </a:rPr>
              <a:t>normalizamos primero</a:t>
            </a:r>
            <a:r>
              <a:rPr lang="en-US" sz="1294" dirty="0">
                <a:solidFill>
                  <a:srgbClr val="F6F5F0"/>
                </a:solidFill>
                <a:latin typeface="Public Sans" pitchFamily="34" charset="0"/>
                <a:ea typeface="Public Sans" pitchFamily="34" charset="-122"/>
                <a:cs typeface="Public Sans" pitchFamily="34" charset="-120"/>
              </a:rPr>
              <a:t> y de ahí salió el E/R. Al final volvimos a comprobar la normalización sobre las tablas.</a:t>
            </a:r>
            <a:endParaRPr lang="en-US" sz="129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67" y="812766"/>
            <a:ext cx="10883460" cy="52835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Los datos de partida: 5 CSV</a:t>
            </a:r>
            <a:endParaRPr lang="en-US" sz="3600" dirty="0"/>
          </a:p>
        </p:txBody>
      </p:sp>
      <p:sp>
        <p:nvSpPr>
          <p:cNvPr id="3" name="Shape 1"/>
          <p:cNvSpPr/>
          <p:nvPr/>
        </p:nvSpPr>
        <p:spPr>
          <a:xfrm>
            <a:off x="812767" y="1595106"/>
            <a:ext cx="10566466" cy="1332839"/>
          </a:xfrm>
          <a:prstGeom prst="rect">
            <a:avLst/>
          </a:prstGeom>
          <a:solidFill>
            <a:srgbClr val="FFFFFF"/>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605689"/>
          <a:ext cx="10555883" cy="1322255"/>
        </p:xfrm>
        <a:graphic>
          <a:graphicData uri="http://schemas.openxmlformats.org/drawingml/2006/table">
            <a:tbl>
              <a:tblPr/>
              <a:tblGrid>
                <a:gridCol w="2322294"/>
                <a:gridCol w="1477824"/>
                <a:gridCol w="1477824"/>
                <a:gridCol w="1266706"/>
                <a:gridCol w="1266706"/>
                <a:gridCol w="1372265"/>
                <a:gridCol w="1372265"/>
              </a:tblGrid>
              <a:tr h="330564">
                <a:tc>
                  <a:txBody>
                    <a:bodyPr/>
                    <a:lstStyle/>
                    <a:p>
                      <a:pPr indent="0" marL="0">
                        <a:lnSpc>
                          <a:spcPts val="1680"/>
                        </a:lnSpc>
                        <a:buNone/>
                      </a:pPr>
                      <a:r>
                        <a:rPr lang="en-US" sz="1200" b="1" dirty="0">
                          <a:solidFill>
                            <a:srgbClr val="14213D"/>
                          </a:solidFill>
                          <a:latin typeface="Public Sans" pitchFamily="34" charset="0"/>
                          <a:ea typeface="Public Sans" pitchFamily="34" charset="-122"/>
                          <a:cs typeface="Public Sans" pitchFamily="34" charset="-120"/>
                        </a:rPr>
                        <a:t>Nombre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Public Sans" pitchFamily="34" charset="0"/>
                          <a:ea typeface="Public Sans" pitchFamily="34" charset="-122"/>
                          <a:cs typeface="Public Sans" pitchFamily="34" charset="-120"/>
                        </a:rPr>
                        <a:t>Promoción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Public Sans" pitchFamily="34" charset="0"/>
                          <a:ea typeface="Public Sans" pitchFamily="34" charset="-122"/>
                          <a:cs typeface="Public Sans" pitchFamily="34" charset="-120"/>
                        </a:rPr>
                        <a:t>Fecha</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Public Sans" pitchFamily="34" charset="0"/>
                          <a:ea typeface="Public Sans" pitchFamily="34" charset="-122"/>
                          <a:cs typeface="Public Sans" pitchFamily="34" charset="-120"/>
                        </a:rPr>
                        <a:t>Campus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Public Sans" pitchFamily="34" charset="0"/>
                          <a:ea typeface="Public Sans" pitchFamily="34" charset="-122"/>
                          <a:cs typeface="Public Sans" pitchFamily="34" charset="-120"/>
                        </a:rPr>
                        <a:t>HLF</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Public Sans" pitchFamily="34" charset="0"/>
                          <a:ea typeface="Public Sans" pitchFamily="34" charset="-122"/>
                          <a:cs typeface="Public Sans" pitchFamily="34" charset="-120"/>
                        </a:rPr>
                        <a:t>EDA</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4213D"/>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30564">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Jafet Casals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Septiembre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18/09/2023</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Madrid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Apto</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No Apto</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564">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Jorge Manzanares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Septiembre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18/09/2023</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Madrid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Apto</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No Apto</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564">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Onofre Adadia</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Septiembre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18/09/2023</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Madrid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Apto</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Apto</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Public Sans" pitchFamily="34" charset="0"/>
                          <a:ea typeface="Public Sans" pitchFamily="34" charset="-122"/>
                          <a:cs typeface="Public Sans" pitchFamily="34" charset="-120"/>
                        </a:rPr>
                        <a: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Shape 2"/>
          <p:cNvSpPr/>
          <p:nvPr/>
        </p:nvSpPr>
        <p:spPr>
          <a:xfrm>
            <a:off x="812767" y="3207328"/>
            <a:ext cx="5194350" cy="1500932"/>
          </a:xfrm>
          <a:prstGeom prst="roundRect">
            <a:avLst>
              <a:gd name="adj" fmla="val 8461"/>
            </a:avLst>
          </a:prstGeom>
          <a:solidFill>
            <a:srgbClr val="EAEEF6"/>
          </a:solidFill>
          <a:ln/>
        </p:spPr>
      </p:sp>
      <p:sp>
        <p:nvSpPr>
          <p:cNvPr id="6" name="Text 3"/>
          <p:cNvSpPr/>
          <p:nvPr/>
        </p:nvSpPr>
        <p:spPr>
          <a:xfrm>
            <a:off x="1015917" y="3410479"/>
            <a:ext cx="4931690" cy="594337"/>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Space Grotesk" pitchFamily="34" charset="0"/>
                <a:ea typeface="Space Grotesk" pitchFamily="34" charset="-122"/>
                <a:cs typeface="Space Grotesk" pitchFamily="34" charset="-120"/>
              </a:rPr>
              <a:t>4 clases</a:t>
            </a:r>
            <a:endParaRPr lang="en-US" sz="3200" dirty="0"/>
          </a:p>
        </p:txBody>
      </p:sp>
      <p:sp>
        <p:nvSpPr>
          <p:cNvPr id="7" name="Text 4"/>
          <p:cNvSpPr/>
          <p:nvPr/>
        </p:nvSpPr>
        <p:spPr>
          <a:xfrm>
            <a:off x="1015917" y="4042916"/>
            <a:ext cx="4931690"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Public Sans" pitchFamily="34" charset="0"/>
                <a:ea typeface="Public Sans" pitchFamily="34" charset="-122"/>
                <a:cs typeface="Public Sans" pitchFamily="34" charset="-120"/>
              </a:rPr>
              <a:t>52 alumnos: 2 de Data Science y 2 de Full Stack, en Madrid y Valencia</a:t>
            </a:r>
            <a:endParaRPr lang="en-US" sz="1300" dirty="0"/>
          </a:p>
        </p:txBody>
      </p:sp>
      <p:sp>
        <p:nvSpPr>
          <p:cNvPr id="8" name="Shape 5"/>
          <p:cNvSpPr/>
          <p:nvPr/>
        </p:nvSpPr>
        <p:spPr>
          <a:xfrm>
            <a:off x="6184883" y="3207328"/>
            <a:ext cx="5194350" cy="1500932"/>
          </a:xfrm>
          <a:prstGeom prst="roundRect">
            <a:avLst>
              <a:gd name="adj" fmla="val 8461"/>
            </a:avLst>
          </a:prstGeom>
          <a:solidFill>
            <a:srgbClr val="EAEEF6"/>
          </a:solidFill>
          <a:ln/>
        </p:spPr>
      </p:sp>
      <p:sp>
        <p:nvSpPr>
          <p:cNvPr id="9" name="Text 6"/>
          <p:cNvSpPr/>
          <p:nvPr/>
        </p:nvSpPr>
        <p:spPr>
          <a:xfrm>
            <a:off x="6388034" y="3410479"/>
            <a:ext cx="4931690" cy="594337"/>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EB"/>
                </a:solidFill>
                <a:latin typeface="Space Grotesk" pitchFamily="34" charset="0"/>
                <a:ea typeface="Space Grotesk" pitchFamily="34" charset="-122"/>
                <a:cs typeface="Space Grotesk" pitchFamily="34" charset="-120"/>
              </a:rPr>
              <a:t>1 claustro</a:t>
            </a:r>
            <a:endParaRPr lang="en-US" sz="3200" dirty="0"/>
          </a:p>
        </p:txBody>
      </p:sp>
      <p:sp>
        <p:nvSpPr>
          <p:cNvPr id="10" name="Text 7"/>
          <p:cNvSpPr/>
          <p:nvPr/>
        </p:nvSpPr>
        <p:spPr>
          <a:xfrm>
            <a:off x="6388034" y="4042916"/>
            <a:ext cx="4991199"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Public Sans" pitchFamily="34" charset="0"/>
                <a:ea typeface="Public Sans" pitchFamily="34" charset="-122"/>
                <a:cs typeface="Public Sans" pitchFamily="34" charset="-120"/>
              </a:rPr>
              <a:t>10 profesores con rol (TA / LI), promoción, campus y modalidad</a:t>
            </a:r>
            <a:endParaRPr lang="en-US" sz="1300" dirty="0"/>
          </a:p>
        </p:txBody>
      </p:sp>
      <p:sp>
        <p:nvSpPr>
          <p:cNvPr id="11" name="Text 8"/>
          <p:cNvSpPr/>
          <p:nvPr/>
        </p:nvSpPr>
        <p:spPr>
          <a:xfrm>
            <a:off x="812767" y="6238295"/>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1 </a:t>
            </a:r>
            <a:endParaRPr lang="en-US" sz="1200" dirty="0"/>
          </a:p>
        </p:txBody>
      </p:sp>
      <p:sp>
        <p:nvSpPr>
          <p:cNvPr id="12" name="Text 9"/>
          <p:cNvSpPr/>
          <p:nvPr/>
        </p:nvSpPr>
        <p:spPr>
          <a:xfrm>
            <a:off x="10058433" y="6238295"/>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67" y="812766"/>
            <a:ext cx="10883460" cy="52835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¿Qué falla si lo guardamos tal cual?</a:t>
            </a:r>
            <a:endParaRPr lang="en-US" sz="3600" dirty="0"/>
          </a:p>
        </p:txBody>
      </p:sp>
      <p:sp>
        <p:nvSpPr>
          <p:cNvPr id="3" name="Shape 1"/>
          <p:cNvSpPr/>
          <p:nvPr/>
        </p:nvSpPr>
        <p:spPr>
          <a:xfrm>
            <a:off x="812767" y="1595106"/>
            <a:ext cx="10566466" cy="2562324"/>
          </a:xfrm>
          <a:prstGeom prst="rect">
            <a:avLst/>
          </a:prstGeom>
          <a:solidFill>
            <a:srgbClr val="FFFFFF"/>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605689"/>
          <a:ext cx="10555883" cy="2551741"/>
        </p:xfrm>
        <a:graphic>
          <a:graphicData uri="http://schemas.openxmlformats.org/drawingml/2006/table">
            <a:tbl>
              <a:tblPr/>
              <a:tblGrid>
                <a:gridCol w="3166765"/>
                <a:gridCol w="7389118"/>
              </a:tblGrid>
              <a:tr h="383811">
                <a:tc>
                  <a:txBody>
                    <a:bodyPr/>
                    <a:lstStyle/>
                    <a:p>
                      <a:pPr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Problema</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Ejemplo con nuestros datos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3811">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Redundancia</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“Septiembre · 18/09/2023 · Madrid” se repite en los 15 alumnos de la clase 1</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32685">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Grupos repetidos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5 columnas Proyecto_X para el mismo dato: un proyecto nuevo obliga a cambiar la tabla</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811">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Al actualizar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Cambiar la fecha de una promoción = cambiar 15 filas; si se olvida una, se contradicen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811">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Al insertar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No se puede crear una promoción que todavía no tiene alumnos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811">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Al borrar</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Public Sans" pitchFamily="34" charset="0"/>
                          <a:ea typeface="Public Sans" pitchFamily="34" charset="-122"/>
                          <a:cs typeface="Public Sans" pitchFamily="34" charset="-120"/>
                        </a:rPr>
                        <a:t>Si se borra el último alumno, se pierden los datos de su promoción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767" y="4436814"/>
            <a:ext cx="10883460" cy="30991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E"/>
                </a:solidFill>
                <a:latin typeface="Public Sans" pitchFamily="34" charset="0"/>
                <a:ea typeface="Public Sans" pitchFamily="34" charset="-122"/>
                <a:cs typeface="Public Sans" pitchFamily="34" charset="-120"/>
              </a:rPr>
              <a:t>La </a:t>
            </a:r>
            <a:r>
              <a:rPr lang="en-US" sz="1600" b="1" dirty="0">
                <a:solidFill>
                  <a:srgbClr val="2F6FEB"/>
                </a:solidFill>
                <a:latin typeface="Public Sans" pitchFamily="34" charset="0"/>
                <a:ea typeface="Public Sans" pitchFamily="34" charset="-122"/>
                <a:cs typeface="Public Sans" pitchFamily="34" charset="-120"/>
              </a:rPr>
              <a:t>normalización</a:t>
            </a:r>
            <a:r>
              <a:rPr lang="en-US" sz="1600" dirty="0">
                <a:solidFill>
                  <a:srgbClr val="3E4A5E"/>
                </a:solidFill>
                <a:latin typeface="Public Sans" pitchFamily="34" charset="0"/>
                <a:ea typeface="Public Sans" pitchFamily="34" charset="-122"/>
                <a:cs typeface="Public Sans" pitchFamily="34" charset="-120"/>
              </a:rPr>
              <a:t> lo resuelve en tres pasos: 1FN, 2FN y 3FN.</a:t>
            </a:r>
            <a:endParaRPr lang="en-US" sz="1600" dirty="0"/>
          </a:p>
        </p:txBody>
      </p:sp>
      <p:sp>
        <p:nvSpPr>
          <p:cNvPr id="6" name="Text 3"/>
          <p:cNvSpPr/>
          <p:nvPr/>
        </p:nvSpPr>
        <p:spPr>
          <a:xfrm>
            <a:off x="812767" y="6238295"/>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1</a:t>
            </a:r>
            <a:endParaRPr lang="en-US" sz="1200" dirty="0"/>
          </a:p>
        </p:txBody>
      </p:sp>
      <p:sp>
        <p:nvSpPr>
          <p:cNvPr id="7" name="Text 4"/>
          <p:cNvSpPr/>
          <p:nvPr/>
        </p:nvSpPr>
        <p:spPr>
          <a:xfrm>
            <a:off x="10058433" y="6238295"/>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67" y="812766"/>
            <a:ext cx="11379233" cy="52835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1FN: un valor por celda, sin columnas repetidas</a:t>
            </a:r>
            <a:endParaRPr lang="en-US" sz="3600" dirty="0"/>
          </a:p>
        </p:txBody>
      </p:sp>
      <p:sp>
        <p:nvSpPr>
          <p:cNvPr id="3" name="Text 1"/>
          <p:cNvSpPr/>
          <p:nvPr/>
        </p:nvSpPr>
        <p:spPr>
          <a:xfrm>
            <a:off x="812767" y="1569721"/>
            <a:ext cx="10883460" cy="30991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A5E"/>
                </a:solidFill>
                <a:latin typeface="Public Sans" pitchFamily="34" charset="0"/>
                <a:ea typeface="Public Sans" pitchFamily="34" charset="-122"/>
                <a:cs typeface="Public Sans" pitchFamily="34" charset="-120"/>
              </a:rPr>
              <a:t>Las 5 columnas de notas se convierten en </a:t>
            </a:r>
            <a:r>
              <a:rPr lang="en-US" sz="1600" b="1" dirty="0">
                <a:solidFill>
                  <a:srgbClr val="14213D"/>
                </a:solidFill>
                <a:latin typeface="Public Sans" pitchFamily="34" charset="0"/>
                <a:ea typeface="Public Sans" pitchFamily="34" charset="-122"/>
                <a:cs typeface="Public Sans" pitchFamily="34" charset="-120"/>
              </a:rPr>
              <a:t>filas</a:t>
            </a:r>
            <a:r>
              <a:rPr lang="en-US" sz="1600" dirty="0">
                <a:solidFill>
                  <a:srgbClr val="3E4A5E"/>
                </a:solidFill>
                <a:latin typeface="Public Sans" pitchFamily="34" charset="0"/>
                <a:ea typeface="Public Sans" pitchFamily="34" charset="-122"/>
                <a:cs typeface="Public Sans" pitchFamily="34" charset="-120"/>
              </a:rPr>
              <a:t>: una por cada alumno y proyecto.</a:t>
            </a:r>
            <a:endParaRPr lang="en-US" sz="1600" dirty="0"/>
          </a:p>
        </p:txBody>
      </p:sp>
      <p:sp>
        <p:nvSpPr>
          <p:cNvPr id="4" name="Text 2"/>
          <p:cNvSpPr/>
          <p:nvPr/>
        </p:nvSpPr>
        <p:spPr>
          <a:xfrm>
            <a:off x="812767" y="2286744"/>
            <a:ext cx="48662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Public Sans" pitchFamily="34" charset="0"/>
                <a:ea typeface="Public Sans" pitchFamily="34" charset="-122"/>
                <a:cs typeface="Public Sans" pitchFamily="34" charset="-120"/>
              </a:rPr>
              <a:t>ANTES</a:t>
            </a:r>
            <a:endParaRPr lang="en-US" sz="1200" dirty="0"/>
          </a:p>
        </p:txBody>
      </p:sp>
      <p:sp>
        <p:nvSpPr>
          <p:cNvPr id="5" name="Shape 3"/>
          <p:cNvSpPr/>
          <p:nvPr/>
        </p:nvSpPr>
        <p:spPr>
          <a:xfrm>
            <a:off x="812767" y="2601596"/>
            <a:ext cx="4724466" cy="1081898"/>
          </a:xfrm>
          <a:prstGeom prst="rect">
            <a:avLst/>
          </a:prstGeom>
          <a:solidFill>
            <a:srgbClr val="FFFF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3350" y="2612180"/>
          <a:ext cx="4713883" cy="1071314"/>
        </p:xfrm>
        <a:graphic>
          <a:graphicData uri="http://schemas.openxmlformats.org/drawingml/2006/table">
            <a:tbl>
              <a:tblPr/>
              <a:tblGrid>
                <a:gridCol w="1602720"/>
                <a:gridCol w="1037054"/>
                <a:gridCol w="1225609"/>
                <a:gridCol w="848499"/>
              </a:tblGrid>
              <a:tr h="357105">
                <a:tc>
                  <a:txBody>
                    <a:bodyPr/>
                    <a:lstStyle/>
                    <a:p>
                      <a:pPr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Alumno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HLF</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EDA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Jafet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Apto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No Apto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Jorge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Apto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No Apto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pic>
        <p:nvPicPr>
          <p:cNvPr id="7" name="Image 0" descr="arrow-right">    </p:cNvPr>
          <p:cNvPicPr>
            <a:picLocks noChangeAspect="1"/>
          </p:cNvPicPr>
          <p:nvPr/>
        </p:nvPicPr>
        <p:blipFill>
          <a:blip r:embed="rId1"/>
          <a:srcRect l="-4" r="-4" t="0" b="0"/>
          <a:stretch/>
        </p:blipFill>
        <p:spPr>
          <a:xfrm>
            <a:off x="5791233" y="2807395"/>
            <a:ext cx="609534" cy="355534"/>
          </a:xfrm>
          <a:prstGeom prst="rect">
            <a:avLst/>
          </a:prstGeom>
        </p:spPr>
      </p:pic>
      <p:sp>
        <p:nvSpPr>
          <p:cNvPr id="8" name="Text 4"/>
          <p:cNvSpPr/>
          <p:nvPr/>
        </p:nvSpPr>
        <p:spPr>
          <a:xfrm>
            <a:off x="6654767" y="2108231"/>
            <a:ext cx="48662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D"/>
                </a:solidFill>
                <a:latin typeface="Public Sans" pitchFamily="34" charset="0"/>
                <a:ea typeface="Public Sans" pitchFamily="34" charset="-122"/>
                <a:cs typeface="Public Sans" pitchFamily="34" charset="-120"/>
              </a:rPr>
              <a:t>DESPUÉS</a:t>
            </a:r>
            <a:endParaRPr lang="en-US" sz="1200" dirty="0"/>
          </a:p>
        </p:txBody>
      </p:sp>
      <p:sp>
        <p:nvSpPr>
          <p:cNvPr id="9" name="Shape 5"/>
          <p:cNvSpPr/>
          <p:nvPr/>
        </p:nvSpPr>
        <p:spPr>
          <a:xfrm>
            <a:off x="6654767" y="2423086"/>
            <a:ext cx="4724466" cy="1439003"/>
          </a:xfrm>
          <a:prstGeom prst="rect">
            <a:avLst/>
          </a:prstGeom>
          <a:solidFill>
            <a:srgbClr val="FFFFFF"/>
          </a:solidFill>
          <a:ln/>
        </p:spPr>
      </p:sp>
      <p:graphicFrame>
        <p:nvGraphicFramePr>
          <p:cNvPr id="10" name="Table 1"/>
          <p:cNvGraphicFramePr>
            <a:graphicFrameLocks noGrp="1"/>
          </p:cNvGraphicFramePr>
          <p:nvPr>
            <p:extLst>
              <p:ext uri="{D42A27DB-BD31-4B8C-83A1-F6EECF244321}">
                <p14:modId xmlns:p14="http://schemas.microsoft.com/office/powerpoint/2010/main" val="1579011935"/>
              </p:ext>
            </p:extLst>
          </p:nvPr>
        </p:nvGraphicFramePr>
        <p:xfrm>
          <a:off x="6665350" y="2433670"/>
          <a:ext cx="4713883" cy="1428419"/>
        </p:xfrm>
        <a:graphic>
          <a:graphicData uri="http://schemas.openxmlformats.org/drawingml/2006/table">
            <a:tbl>
              <a:tblPr/>
              <a:tblGrid>
                <a:gridCol w="1414165"/>
                <a:gridCol w="1414165"/>
                <a:gridCol w="1885553"/>
              </a:tblGrid>
              <a:tr h="357105">
                <a:tc>
                  <a:txBody>
                    <a:bodyPr/>
                    <a:lstStyle/>
                    <a:p>
                      <a:pPr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Alumno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Proyecto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Evaluación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Jafet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HLF</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Apto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Jafet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EDA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No Apto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Jorge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HLF</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Apto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1" name="Text 6"/>
          <p:cNvSpPr/>
          <p:nvPr/>
        </p:nvSpPr>
        <p:spPr>
          <a:xfrm>
            <a:off x="812767" y="4116090"/>
            <a:ext cx="10883460" cy="27427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E"/>
                </a:solidFill>
                <a:latin typeface="Public Sans" pitchFamily="34" charset="0"/>
                <a:ea typeface="Public Sans" pitchFamily="34" charset="-122"/>
                <a:cs typeface="Public Sans" pitchFamily="34" charset="-120"/>
              </a:rPr>
              <a:t>Un proyecto nuevo = filas nuevas, no columnas nuevas. Las fechas pasan de texto (18/09/2023) a tipo </a:t>
            </a:r>
            <a:r>
              <a:rPr lang="en-US" sz="1400" b="1" dirty="0">
                <a:solidFill>
                  <a:srgbClr val="14213D"/>
                </a:solidFill>
                <a:latin typeface="Public Sans" pitchFamily="34" charset="0"/>
                <a:ea typeface="Public Sans" pitchFamily="34" charset="-122"/>
                <a:cs typeface="Public Sans" pitchFamily="34" charset="-120"/>
              </a:rPr>
              <a:t>DATE</a:t>
            </a:r>
            <a:r>
              <a:rPr lang="en-US" sz="1400" dirty="0">
                <a:solidFill>
                  <a:srgbClr val="3E4A5E"/>
                </a:solidFill>
                <a:latin typeface="Public Sans" pitchFamily="34" charset="0"/>
                <a:ea typeface="Public Sans" pitchFamily="34" charset="-122"/>
                <a:cs typeface="Public Sans" pitchFamily="34" charset="-120"/>
              </a:rPr>
              <a:t>.</a:t>
            </a:r>
            <a:endParaRPr lang="en-US" sz="1400" dirty="0"/>
          </a:p>
        </p:txBody>
      </p:sp>
      <p:sp>
        <p:nvSpPr>
          <p:cNvPr id="12" name="Text 7"/>
          <p:cNvSpPr/>
          <p:nvPr/>
        </p:nvSpPr>
        <p:spPr>
          <a:xfrm>
            <a:off x="812767" y="6238295"/>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2 </a:t>
            </a:r>
            <a:endParaRPr lang="en-US" sz="1200" dirty="0"/>
          </a:p>
        </p:txBody>
      </p:sp>
      <p:sp>
        <p:nvSpPr>
          <p:cNvPr id="13" name="Text 8"/>
          <p:cNvSpPr/>
          <p:nvPr/>
        </p:nvSpPr>
        <p:spPr>
          <a:xfrm>
            <a:off x="10058433" y="6238295"/>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767" y="6238379"/>
            <a:ext cx="7848600" cy="2386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2 </a:t>
            </a:r>
            <a:endParaRPr lang="en-US" sz="1200" dirty="0"/>
          </a:p>
        </p:txBody>
      </p:sp>
      <p:sp>
        <p:nvSpPr>
          <p:cNvPr id="3" name="Text 1"/>
          <p:cNvSpPr/>
          <p:nvPr/>
        </p:nvSpPr>
        <p:spPr>
          <a:xfrm>
            <a:off x="10058433" y="6238295"/>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7</a:t>
            </a:r>
            <a:endParaRPr lang="en-US" sz="1200" dirty="0"/>
          </a:p>
        </p:txBody>
      </p:sp>
      <p:sp>
        <p:nvSpPr>
          <p:cNvPr id="4" name="Text 2"/>
          <p:cNvSpPr/>
          <p:nvPr>
            <p:ph type="title"/>
          </p:nvPr>
        </p:nvSpPr>
        <p:spPr>
          <a:xfrm>
            <a:off x="812767" y="812766"/>
            <a:ext cx="10883374" cy="52835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2FN y 3FN: cada dato en su tabla</a:t>
            </a:r>
            <a:endParaRPr lang="en-US" sz="3600" dirty="0"/>
          </a:p>
        </p:txBody>
      </p:sp>
      <p:sp>
        <p:nvSpPr>
          <p:cNvPr id="5" name="Shape 3"/>
          <p:cNvSpPr/>
          <p:nvPr/>
        </p:nvSpPr>
        <p:spPr>
          <a:xfrm>
            <a:off x="819117" y="2235132"/>
            <a:ext cx="5168834" cy="2387567"/>
          </a:xfrm>
          <a:prstGeom prst="roundRect">
            <a:avLst>
              <a:gd name="adj" fmla="val 5053"/>
            </a:avLst>
          </a:prstGeom>
          <a:solidFill>
            <a:srgbClr val="FFFFFF"/>
          </a:solidFill>
          <a:ln w="12700">
            <a:solidFill>
              <a:srgbClr val="DCE2EC"/>
            </a:solidFill>
            <a:prstDash val="solid"/>
          </a:ln>
        </p:spPr>
      </p:sp>
      <p:sp>
        <p:nvSpPr>
          <p:cNvPr id="6" name="Text 4"/>
          <p:cNvSpPr/>
          <p:nvPr/>
        </p:nvSpPr>
        <p:spPr>
          <a:xfrm>
            <a:off x="1077350" y="2493367"/>
            <a:ext cx="479193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Public Sans" pitchFamily="34" charset="0"/>
                <a:ea typeface="Public Sans" pitchFamily="34" charset="-122"/>
                <a:cs typeface="Public Sans" pitchFamily="34" charset="-120"/>
              </a:rPr>
              <a:t>2FN · DEPENDE DE TODA LA CLAVE</a:t>
            </a:r>
            <a:endParaRPr lang="en-US" sz="1200" dirty="0"/>
          </a:p>
        </p:txBody>
      </p:sp>
      <p:sp>
        <p:nvSpPr>
          <p:cNvPr id="7" name="Text 5"/>
          <p:cNvSpPr/>
          <p:nvPr/>
        </p:nvSpPr>
        <p:spPr>
          <a:xfrm>
            <a:off x="1077350" y="2808219"/>
            <a:ext cx="4791938" cy="1571724"/>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E"/>
                </a:solidFill>
                <a:latin typeface="Public Sans" pitchFamily="34" charset="0"/>
                <a:ea typeface="Public Sans" pitchFamily="34" charset="-122"/>
                <a:cs typeface="Public Sans" pitchFamily="34" charset="-120"/>
              </a:rPr>
              <a:t>La clave es (alumno, proyecto). Nombre y email dependen solo del alumno → tabla </a:t>
            </a:r>
            <a:r>
              <a:rPr lang="en-US" sz="1400" b="1" dirty="0">
                <a:solidFill>
                  <a:srgbClr val="14213D"/>
                </a:solidFill>
                <a:latin typeface="Public Sans" pitchFamily="34" charset="0"/>
                <a:ea typeface="Public Sans" pitchFamily="34" charset="-122"/>
                <a:cs typeface="Public Sans" pitchFamily="34" charset="-120"/>
              </a:rPr>
              <a:t>alumnos</a:t>
            </a:r>
            <a:r>
              <a:rPr lang="en-US" sz="1400" dirty="0">
                <a:solidFill>
                  <a:srgbClr val="3E4A5E"/>
                </a:solidFill>
                <a:latin typeface="Public Sans" pitchFamily="34" charset="0"/>
                <a:ea typeface="Public Sans" pitchFamily="34" charset="-122"/>
                <a:cs typeface="Public Sans" pitchFamily="34" charset="-120"/>
              </a:rPr>
              <a:t>. El nombre del proyecto, solo del proyecto → </a:t>
            </a:r>
            <a:r>
              <a:rPr lang="en-US" sz="1400" b="1" dirty="0">
                <a:solidFill>
                  <a:srgbClr val="14213D"/>
                </a:solidFill>
                <a:latin typeface="Public Sans" pitchFamily="34" charset="0"/>
                <a:ea typeface="Public Sans" pitchFamily="34" charset="-122"/>
                <a:cs typeface="Public Sans" pitchFamily="34" charset="-120"/>
              </a:rPr>
              <a:t>proyectos</a:t>
            </a:r>
            <a:r>
              <a:rPr lang="en-US" sz="1400" dirty="0">
                <a:solidFill>
                  <a:srgbClr val="3E4A5E"/>
                </a:solidFill>
                <a:latin typeface="Public Sans" pitchFamily="34" charset="0"/>
                <a:ea typeface="Public Sans" pitchFamily="34" charset="-122"/>
                <a:cs typeface="Public Sans" pitchFamily="34" charset="-120"/>
              </a:rPr>
              <a:t>. La evaluación depende de los dos → se queda en </a:t>
            </a:r>
            <a:r>
              <a:rPr lang="en-US" sz="1400" b="1" dirty="0">
                <a:solidFill>
                  <a:srgbClr val="14213D"/>
                </a:solidFill>
                <a:latin typeface="Public Sans" pitchFamily="34" charset="0"/>
                <a:ea typeface="Public Sans" pitchFamily="34" charset="-122"/>
                <a:cs typeface="Public Sans" pitchFamily="34" charset="-120"/>
              </a:rPr>
              <a:t>alumnosProyectos</a:t>
            </a:r>
            <a:r>
              <a:rPr lang="en-US" sz="1400" dirty="0">
                <a:solidFill>
                  <a:srgbClr val="14213D"/>
                </a:solidFill>
                <a:latin typeface="Public Sans" pitchFamily="34" charset="0"/>
                <a:ea typeface="Public Sans" pitchFamily="34" charset="-122"/>
                <a:cs typeface="Public Sans" pitchFamily="34" charset="-120"/>
              </a:rPr>
              <a:t> (la relación entre alumnos y proyectos)</a:t>
            </a:r>
            <a:r>
              <a:rPr lang="en-US" sz="1400" dirty="0">
                <a:solidFill>
                  <a:srgbClr val="3E4A5E"/>
                </a:solidFill>
                <a:latin typeface="Public Sans" pitchFamily="34" charset="0"/>
                <a:ea typeface="Public Sans" pitchFamily="34" charset="-122"/>
                <a:cs typeface="Public Sans" pitchFamily="34" charset="-120"/>
              </a:rPr>
              <a:t>. </a:t>
            </a:r>
            <a:endParaRPr lang="en-US" sz="1400" dirty="0"/>
          </a:p>
        </p:txBody>
      </p:sp>
      <p:sp>
        <p:nvSpPr>
          <p:cNvPr id="8" name="Shape 6"/>
          <p:cNvSpPr/>
          <p:nvPr/>
        </p:nvSpPr>
        <p:spPr>
          <a:xfrm>
            <a:off x="6204049" y="2235216"/>
            <a:ext cx="5168834" cy="2387567"/>
          </a:xfrm>
          <a:prstGeom prst="roundRect">
            <a:avLst>
              <a:gd name="adj" fmla="val 5053"/>
            </a:avLst>
          </a:prstGeom>
          <a:solidFill>
            <a:srgbClr val="FFFFFF"/>
          </a:solidFill>
          <a:ln w="12700">
            <a:solidFill>
              <a:srgbClr val="DCE2EC"/>
            </a:solidFill>
            <a:prstDash val="solid"/>
          </a:ln>
        </p:spPr>
      </p:sp>
      <p:sp>
        <p:nvSpPr>
          <p:cNvPr id="9" name="Text 7"/>
          <p:cNvSpPr/>
          <p:nvPr/>
        </p:nvSpPr>
        <p:spPr>
          <a:xfrm>
            <a:off x="6462282" y="2493448"/>
            <a:ext cx="479193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Public Sans" pitchFamily="34" charset="0"/>
                <a:ea typeface="Public Sans" pitchFamily="34" charset="-122"/>
                <a:cs typeface="Public Sans" pitchFamily="34" charset="-120"/>
              </a:rPr>
              <a:t>3FN · NADA DEPENDE DE OTRO DATO</a:t>
            </a:r>
            <a:endParaRPr lang="en-US" sz="1200" dirty="0"/>
          </a:p>
        </p:txBody>
      </p:sp>
      <p:sp>
        <p:nvSpPr>
          <p:cNvPr id="10" name="Text 8"/>
          <p:cNvSpPr/>
          <p:nvPr/>
        </p:nvSpPr>
        <p:spPr>
          <a:xfrm>
            <a:off x="6462282" y="2808303"/>
            <a:ext cx="4791938" cy="1056283"/>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E"/>
                </a:solidFill>
                <a:latin typeface="Public Sans" pitchFamily="34" charset="0"/>
                <a:ea typeface="Public Sans" pitchFamily="34" charset="-122"/>
                <a:cs typeface="Public Sans" pitchFamily="34" charset="-120"/>
              </a:rPr>
              <a:t>La fecha, el campus y la vertical no son del alumno: son de la </a:t>
            </a:r>
            <a:r>
              <a:rPr lang="en-US" sz="1400" b="1" dirty="0">
                <a:solidFill>
                  <a:srgbClr val="14213D"/>
                </a:solidFill>
                <a:latin typeface="Public Sans" pitchFamily="34" charset="0"/>
                <a:ea typeface="Public Sans" pitchFamily="34" charset="-122"/>
                <a:cs typeface="Public Sans" pitchFamily="34" charset="-120"/>
              </a:rPr>
              <a:t>promoción</a:t>
            </a:r>
            <a:r>
              <a:rPr lang="en-US" sz="1400" dirty="0">
                <a:solidFill>
                  <a:srgbClr val="3E4A5E"/>
                </a:solidFill>
                <a:latin typeface="Public Sans" pitchFamily="34" charset="0"/>
                <a:ea typeface="Public Sans" pitchFamily="34" charset="-122"/>
                <a:cs typeface="Public Sans" pitchFamily="34" charset="-120"/>
              </a:rPr>
              <a:t> (alumno → promoción → fecha). Salen a su tabla y se enlazan con </a:t>
            </a:r>
            <a:r>
              <a:rPr lang="en-US" sz="1400" b="1" dirty="0">
                <a:solidFill>
                  <a:srgbClr val="14213D"/>
                </a:solidFill>
                <a:latin typeface="Public Sans" pitchFamily="34" charset="0"/>
                <a:ea typeface="Public Sans" pitchFamily="34" charset="-122"/>
                <a:cs typeface="Public Sans" pitchFamily="34" charset="-120"/>
              </a:rPr>
              <a:t>alumnosPromocion</a:t>
            </a:r>
            <a:r>
              <a:rPr lang="en-US" sz="1400" dirty="0">
                <a:solidFill>
                  <a:srgbClr val="3E4A5E"/>
                </a:solidFill>
                <a:latin typeface="Public Sans" pitchFamily="34" charset="0"/>
                <a:ea typeface="Public Sans" pitchFamily="34" charset="-122"/>
                <a:cs typeface="Public Sans" pitchFamily="34" charset="-120"/>
              </a:rPr>
              <a:t>. Igual con el claustro.</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67" y="812766"/>
            <a:ext cx="10883460" cy="52835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Entidades, herencia y 5 relaciones N:M</a:t>
            </a:r>
            <a:endParaRPr lang="en-US" sz="3600" dirty="0"/>
          </a:p>
        </p:txBody>
      </p:sp>
      <p:sp>
        <p:nvSpPr>
          <p:cNvPr id="3" name="Shape 1"/>
          <p:cNvSpPr/>
          <p:nvPr/>
        </p:nvSpPr>
        <p:spPr>
          <a:xfrm>
            <a:off x="812767" y="1544256"/>
            <a:ext cx="3946756" cy="1325645"/>
          </a:xfrm>
          <a:prstGeom prst="roundRect">
            <a:avLst>
              <a:gd name="adj" fmla="val 9580"/>
            </a:avLst>
          </a:prstGeom>
          <a:solidFill>
            <a:srgbClr val="14213D"/>
          </a:solidFill>
          <a:ln/>
        </p:spPr>
      </p:sp>
      <p:sp>
        <p:nvSpPr>
          <p:cNvPr id="4" name="Text 2"/>
          <p:cNvSpPr/>
          <p:nvPr/>
        </p:nvSpPr>
        <p:spPr>
          <a:xfrm>
            <a:off x="1015917" y="1722022"/>
            <a:ext cx="3646669" cy="314871"/>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6F5F0"/>
                </a:solidFill>
                <a:latin typeface="Space Grotesk" pitchFamily="34" charset="0"/>
                <a:ea typeface="Space Grotesk" pitchFamily="34" charset="-122"/>
                <a:cs typeface="Space Grotesk" pitchFamily="34" charset="-120"/>
              </a:rPr>
              <a:t>Persona → Alumno / Profesor</a:t>
            </a:r>
            <a:endParaRPr lang="en-US" sz="1900" dirty="0"/>
          </a:p>
        </p:txBody>
      </p:sp>
      <p:sp>
        <p:nvSpPr>
          <p:cNvPr id="5" name="Text 3"/>
          <p:cNvSpPr/>
          <p:nvPr/>
        </p:nvSpPr>
        <p:spPr>
          <a:xfrm>
            <a:off x="1015917" y="2074993"/>
            <a:ext cx="364666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3E6"/>
                </a:solidFill>
                <a:latin typeface="Public Sans" pitchFamily="34" charset="0"/>
                <a:ea typeface="Public Sans" pitchFamily="34" charset="-122"/>
                <a:cs typeface="Public Sans" pitchFamily="34" charset="-120"/>
              </a:rPr>
              <a:t>Persona: Id, Nombre, Email · Profesor: Rol, Modalidad. Herencia </a:t>
            </a:r>
            <a:r>
              <a:rPr lang="en-US" sz="1200" b="1" dirty="0">
                <a:solidFill>
                  <a:srgbClr val="F2A65A"/>
                </a:solidFill>
                <a:latin typeface="Public Sans" pitchFamily="34" charset="0"/>
                <a:ea typeface="Public Sans" pitchFamily="34" charset="-122"/>
                <a:cs typeface="Public Sans" pitchFamily="34" charset="-120"/>
              </a:rPr>
              <a:t>parcial y solapada</a:t>
            </a:r>
            <a:endParaRPr lang="en-US" sz="1200" dirty="0"/>
          </a:p>
        </p:txBody>
      </p:sp>
      <p:sp>
        <p:nvSpPr>
          <p:cNvPr id="6" name="Shape 4"/>
          <p:cNvSpPr/>
          <p:nvPr/>
        </p:nvSpPr>
        <p:spPr>
          <a:xfrm>
            <a:off x="4911907" y="1544256"/>
            <a:ext cx="3157471" cy="1325645"/>
          </a:xfrm>
          <a:prstGeom prst="roundRect">
            <a:avLst>
              <a:gd name="adj" fmla="val 9580"/>
            </a:avLst>
          </a:prstGeom>
          <a:solidFill>
            <a:srgbClr val="14213D"/>
          </a:solidFill>
          <a:ln/>
        </p:spPr>
      </p:sp>
      <p:sp>
        <p:nvSpPr>
          <p:cNvPr id="7" name="Text 5"/>
          <p:cNvSpPr/>
          <p:nvPr/>
        </p:nvSpPr>
        <p:spPr>
          <a:xfrm>
            <a:off x="5115057" y="1722022"/>
            <a:ext cx="2833706" cy="314871"/>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6F5F0"/>
                </a:solidFill>
                <a:latin typeface="Space Grotesk" pitchFamily="34" charset="0"/>
                <a:ea typeface="Space Grotesk" pitchFamily="34" charset="-122"/>
                <a:cs typeface="Space Grotesk" pitchFamily="34" charset="-120"/>
              </a:rPr>
              <a:t>Promoción</a:t>
            </a:r>
            <a:endParaRPr lang="en-US" sz="1900" dirty="0"/>
          </a:p>
        </p:txBody>
      </p:sp>
      <p:sp>
        <p:nvSpPr>
          <p:cNvPr id="8" name="Text 6"/>
          <p:cNvSpPr/>
          <p:nvPr/>
        </p:nvSpPr>
        <p:spPr>
          <a:xfrm>
            <a:off x="5115057" y="2074993"/>
            <a:ext cx="2833706"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3E6"/>
                </a:solidFill>
                <a:latin typeface="Public Sans" pitchFamily="34" charset="0"/>
                <a:ea typeface="Public Sans" pitchFamily="34" charset="-122"/>
                <a:cs typeface="Public Sans" pitchFamily="34" charset="-120"/>
              </a:rPr>
              <a:t>Id, Fecha, Campus, Vertical, TipoModalidad · MesPromoción (derivado)</a:t>
            </a:r>
            <a:endParaRPr lang="en-US" sz="1200" dirty="0"/>
          </a:p>
        </p:txBody>
      </p:sp>
      <p:sp>
        <p:nvSpPr>
          <p:cNvPr id="9" name="Shape 7"/>
          <p:cNvSpPr/>
          <p:nvPr/>
        </p:nvSpPr>
        <p:spPr>
          <a:xfrm>
            <a:off x="8221762" y="1544256"/>
            <a:ext cx="3157389" cy="1325645"/>
          </a:xfrm>
          <a:prstGeom prst="roundRect">
            <a:avLst>
              <a:gd name="adj" fmla="val 9580"/>
            </a:avLst>
          </a:prstGeom>
          <a:solidFill>
            <a:srgbClr val="14213D"/>
          </a:solidFill>
          <a:ln/>
        </p:spPr>
      </p:sp>
      <p:sp>
        <p:nvSpPr>
          <p:cNvPr id="10" name="Text 8"/>
          <p:cNvSpPr/>
          <p:nvPr/>
        </p:nvSpPr>
        <p:spPr>
          <a:xfrm>
            <a:off x="8424912" y="1722022"/>
            <a:ext cx="2833621" cy="314871"/>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6F5F0"/>
                </a:solidFill>
                <a:latin typeface="Space Grotesk" pitchFamily="34" charset="0"/>
                <a:ea typeface="Space Grotesk" pitchFamily="34" charset="-122"/>
                <a:cs typeface="Space Grotesk" pitchFamily="34" charset="-120"/>
              </a:rPr>
              <a:t>Proyecto</a:t>
            </a:r>
            <a:endParaRPr lang="en-US" sz="1900" dirty="0"/>
          </a:p>
        </p:txBody>
      </p:sp>
      <p:sp>
        <p:nvSpPr>
          <p:cNvPr id="11" name="Text 9"/>
          <p:cNvSpPr/>
          <p:nvPr/>
        </p:nvSpPr>
        <p:spPr>
          <a:xfrm>
            <a:off x="8424912" y="2074993"/>
            <a:ext cx="2833621"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3E6"/>
                </a:solidFill>
                <a:latin typeface="Public Sans" pitchFamily="34" charset="0"/>
                <a:ea typeface="Public Sans" pitchFamily="34" charset="-122"/>
                <a:cs typeface="Public Sans" pitchFamily="34" charset="-120"/>
              </a:rPr>
              <a:t>Id, Nombre</a:t>
            </a:r>
            <a:endParaRPr lang="en-US" sz="1200" dirty="0"/>
          </a:p>
        </p:txBody>
      </p:sp>
      <p:sp>
        <p:nvSpPr>
          <p:cNvPr id="12" name="Shape 10"/>
          <p:cNvSpPr/>
          <p:nvPr/>
        </p:nvSpPr>
        <p:spPr>
          <a:xfrm>
            <a:off x="812767" y="3098434"/>
            <a:ext cx="10566466" cy="2153212"/>
          </a:xfrm>
          <a:prstGeom prst="rect">
            <a:avLst/>
          </a:prstGeom>
          <a:solidFill>
            <a:srgbClr val="FFFFFF"/>
          </a:solidFill>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3350" y="3109017"/>
          <a:ext cx="10555883" cy="2142629"/>
        </p:xfrm>
        <a:graphic>
          <a:graphicData uri="http://schemas.openxmlformats.org/drawingml/2006/table">
            <a:tbl>
              <a:tblPr/>
              <a:tblGrid>
                <a:gridCol w="1900059"/>
                <a:gridCol w="3166765"/>
                <a:gridCol w="5489059"/>
              </a:tblGrid>
              <a:tr h="357105">
                <a:tc>
                  <a:txBody>
                    <a:bodyPr/>
                    <a:lstStyle/>
                    <a:p>
                      <a:pPr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Relación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Entre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Se lee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Participa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Alumno – Promoción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Un alumno puede estar en varias promociones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Enseña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Profesor – Promoción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Qué profesores da cada promoción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Realizan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Alumno – Proyecto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Con el atributo Evaluación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Tienen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Promoción – Proyecto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Qué proyectos tiene cada promoción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Corrigen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Profesor – Proyecto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Quién corrige cada proyecto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4" name="Text 11"/>
          <p:cNvSpPr/>
          <p:nvPr/>
        </p:nvSpPr>
        <p:spPr>
          <a:xfrm>
            <a:off x="812767" y="6238292"/>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3 </a:t>
            </a:r>
            <a:endParaRPr lang="en-US" sz="1200" dirty="0"/>
          </a:p>
        </p:txBody>
      </p:sp>
      <p:sp>
        <p:nvSpPr>
          <p:cNvPr id="15" name="Text 12"/>
          <p:cNvSpPr/>
          <p:nvPr/>
        </p:nvSpPr>
        <p:spPr>
          <a:xfrm>
            <a:off x="10058433" y="6238292"/>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767" y="6238292"/>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3 · Hecho en draw.io</a:t>
            </a:r>
            <a:endParaRPr lang="en-US" sz="1200" dirty="0"/>
          </a:p>
        </p:txBody>
      </p:sp>
      <p:sp>
        <p:nvSpPr>
          <p:cNvPr id="3" name="Text 1"/>
          <p:cNvSpPr/>
          <p:nvPr/>
        </p:nvSpPr>
        <p:spPr>
          <a:xfrm>
            <a:off x="10058433" y="6238292"/>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9</a:t>
            </a:r>
            <a:endParaRPr lang="en-US" sz="1200" dirty="0"/>
          </a:p>
        </p:txBody>
      </p:sp>
      <p:sp>
        <p:nvSpPr>
          <p:cNvPr id="4" name="Text 2"/>
          <p:cNvSpPr/>
          <p:nvPr>
            <p:ph type="title"/>
          </p:nvPr>
        </p:nvSpPr>
        <p:spPr>
          <a:xfrm>
            <a:off x="812767" y="812763"/>
            <a:ext cx="10889933" cy="52835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El modelo Entidad-Relación</a:t>
            </a:r>
            <a:endParaRPr lang="en-US" sz="3600" dirty="0"/>
          </a:p>
        </p:txBody>
      </p:sp>
      <p:sp>
        <p:nvSpPr>
          <p:cNvPr id="5" name="Shape 3"/>
          <p:cNvSpPr/>
          <p:nvPr/>
        </p:nvSpPr>
        <p:spPr>
          <a:xfrm>
            <a:off x="812767" y="1517631"/>
            <a:ext cx="6350000" cy="4318000"/>
          </a:xfrm>
          <a:prstGeom prst="roundRect">
            <a:avLst>
              <a:gd name="adj" fmla="val 2353"/>
            </a:avLst>
          </a:prstGeom>
          <a:solidFill>
            <a:srgbClr val="FFFFFF"/>
          </a:solidFill>
          <a:ln/>
        </p:spPr>
      </p:sp>
      <p:pic>
        <p:nvPicPr>
          <p:cNvPr id="6" name="Image 0" descr="Diagrama Entidad-Relación con Persona generalizada en Alumno y Profesor, hecho en draw.io">    </p:cNvPr>
          <p:cNvPicPr>
            <a:picLocks noChangeAspect="1"/>
          </p:cNvPicPr>
          <p:nvPr/>
        </p:nvPicPr>
        <p:blipFill>
          <a:blip r:embed="rId1"/>
          <a:stretch>
            <a:fillRect/>
          </a:stretch>
        </p:blipFill>
        <p:spPr>
          <a:xfrm>
            <a:off x="2059783" y="1530331"/>
            <a:ext cx="3855968" cy="4292600"/>
          </a:xfrm>
          <a:prstGeom prst="rect">
            <a:avLst/>
          </a:prstGeom>
        </p:spPr>
      </p:pic>
      <p:sp>
        <p:nvSpPr>
          <p:cNvPr id="7" name="Shape 4"/>
          <p:cNvSpPr/>
          <p:nvPr/>
        </p:nvSpPr>
        <p:spPr>
          <a:xfrm>
            <a:off x="819117" y="1523981"/>
            <a:ext cx="6337300" cy="4305300"/>
          </a:xfrm>
          <a:prstGeom prst="roundRect">
            <a:avLst>
              <a:gd name="adj" fmla="val 2212"/>
            </a:avLst>
          </a:prstGeom>
          <a:noFill/>
          <a:ln w="12700">
            <a:solidFill>
              <a:srgbClr val="DCE2EC"/>
            </a:solidFill>
            <a:prstDash val="solid"/>
          </a:ln>
        </p:spPr>
      </p:sp>
      <p:sp>
        <p:nvSpPr>
          <p:cNvPr id="8" name="Text 5"/>
          <p:cNvSpPr/>
          <p:nvPr/>
        </p:nvSpPr>
        <p:spPr>
          <a:xfrm>
            <a:off x="7416767" y="2472941"/>
            <a:ext cx="4087812"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Rectángulo</a:t>
            </a:r>
            <a:r>
              <a:rPr lang="en-US" sz="1300" dirty="0">
                <a:solidFill>
                  <a:srgbClr val="3E4A5E"/>
                </a:solidFill>
                <a:latin typeface="Public Sans" pitchFamily="34" charset="0"/>
                <a:ea typeface="Public Sans" pitchFamily="34" charset="-122"/>
                <a:cs typeface="Public Sans" pitchFamily="34" charset="-120"/>
              </a:rPr>
              <a:t> = entidad · </a:t>
            </a:r>
            <a:r>
              <a:rPr lang="en-US" sz="1300" b="1" dirty="0">
                <a:solidFill>
                  <a:srgbClr val="14213D"/>
                </a:solidFill>
                <a:latin typeface="Public Sans" pitchFamily="34" charset="0"/>
                <a:ea typeface="Public Sans" pitchFamily="34" charset="-122"/>
                <a:cs typeface="Public Sans" pitchFamily="34" charset="-120"/>
              </a:rPr>
              <a:t>Rombo</a:t>
            </a:r>
            <a:r>
              <a:rPr lang="en-US" sz="1300" dirty="0">
                <a:solidFill>
                  <a:srgbClr val="3E4A5E"/>
                </a:solidFill>
                <a:latin typeface="Public Sans" pitchFamily="34" charset="0"/>
                <a:ea typeface="Public Sans" pitchFamily="34" charset="-122"/>
                <a:cs typeface="Public Sans" pitchFamily="34" charset="-120"/>
              </a:rPr>
              <a:t> = relación</a:t>
            </a:r>
            <a:endParaRPr lang="en-US" sz="1300" dirty="0"/>
          </a:p>
        </p:txBody>
      </p:sp>
      <p:sp>
        <p:nvSpPr>
          <p:cNvPr id="9" name="Text 6"/>
          <p:cNvSpPr/>
          <p:nvPr/>
        </p:nvSpPr>
        <p:spPr>
          <a:xfrm>
            <a:off x="7416767" y="2843690"/>
            <a:ext cx="4087812"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Elipse</a:t>
            </a:r>
            <a:r>
              <a:rPr lang="en-US" sz="1300" dirty="0">
                <a:solidFill>
                  <a:srgbClr val="3E4A5E"/>
                </a:solidFill>
                <a:latin typeface="Public Sans" pitchFamily="34" charset="0"/>
                <a:ea typeface="Public Sans" pitchFamily="34" charset="-122"/>
                <a:cs typeface="Public Sans" pitchFamily="34" charset="-120"/>
              </a:rPr>
              <a:t> = atributo (</a:t>
            </a:r>
            <a:r>
              <a:rPr lang="en-US" sz="1300" u="sng" dirty="0">
                <a:solidFill>
                  <a:srgbClr val="3E4A5E"/>
                </a:solidFill>
                <a:latin typeface="Public Sans" pitchFamily="34" charset="0"/>
                <a:ea typeface="Public Sans" pitchFamily="34" charset="-122"/>
                <a:cs typeface="Public Sans" pitchFamily="34" charset="-120"/>
              </a:rPr>
              <a:t>subrayado</a:t>
            </a:r>
            <a:r>
              <a:rPr lang="en-US" sz="1300" dirty="0">
                <a:solidFill>
                  <a:srgbClr val="3E4A5E"/>
                </a:solidFill>
                <a:latin typeface="Public Sans" pitchFamily="34" charset="0"/>
                <a:ea typeface="Public Sans" pitchFamily="34" charset="-122"/>
                <a:cs typeface="Public Sans" pitchFamily="34" charset="-120"/>
              </a:rPr>
              <a:t> = clave primaria)</a:t>
            </a:r>
            <a:endParaRPr lang="en-US" sz="1300" dirty="0"/>
          </a:p>
        </p:txBody>
      </p:sp>
      <p:sp>
        <p:nvSpPr>
          <p:cNvPr id="10" name="Text 7"/>
          <p:cNvSpPr/>
          <p:nvPr/>
        </p:nvSpPr>
        <p:spPr>
          <a:xfrm>
            <a:off x="7416767" y="3214439"/>
            <a:ext cx="4087812" cy="48759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Triángulo</a:t>
            </a:r>
            <a:r>
              <a:rPr lang="en-US" sz="1300" dirty="0">
                <a:solidFill>
                  <a:srgbClr val="3E4A5E"/>
                </a:solidFill>
                <a:latin typeface="Public Sans" pitchFamily="34" charset="0"/>
                <a:ea typeface="Public Sans" pitchFamily="34" charset="-122"/>
                <a:cs typeface="Public Sans" pitchFamily="34" charset="-120"/>
              </a:rPr>
              <a:t> = herencia parcial y solapada: una persona puede ser alumno, profesor o los dos</a:t>
            </a:r>
            <a:endParaRPr lang="en-US" sz="1300" dirty="0"/>
          </a:p>
        </p:txBody>
      </p:sp>
      <p:sp>
        <p:nvSpPr>
          <p:cNvPr id="11" name="Text 8"/>
          <p:cNvSpPr/>
          <p:nvPr/>
        </p:nvSpPr>
        <p:spPr>
          <a:xfrm>
            <a:off x="7416767" y="3816282"/>
            <a:ext cx="4087812" cy="48759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Elipse discontinua</a:t>
            </a:r>
            <a:r>
              <a:rPr lang="en-US" sz="1300" dirty="0">
                <a:solidFill>
                  <a:srgbClr val="3E4A5E"/>
                </a:solidFill>
                <a:latin typeface="Public Sans" pitchFamily="34" charset="0"/>
                <a:ea typeface="Public Sans" pitchFamily="34" charset="-122"/>
                <a:cs typeface="Public Sans" pitchFamily="34" charset="-120"/>
              </a:rPr>
              <a:t> = atributo derivado: MesPromoción sale de la fecha</a:t>
            </a:r>
            <a:endParaRPr lang="en-US" sz="1300" dirty="0"/>
          </a:p>
        </p:txBody>
      </p:sp>
      <p:sp>
        <p:nvSpPr>
          <p:cNvPr id="12" name="Text 9"/>
          <p:cNvSpPr/>
          <p:nvPr/>
        </p:nvSpPr>
        <p:spPr>
          <a:xfrm>
            <a:off x="7416767" y="4418124"/>
            <a:ext cx="4087812" cy="48759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Evaluación</a:t>
            </a:r>
            <a:r>
              <a:rPr lang="en-US" sz="1300" dirty="0">
                <a:solidFill>
                  <a:srgbClr val="3E4A5E"/>
                </a:solidFill>
                <a:latin typeface="Public Sans" pitchFamily="34" charset="0"/>
                <a:ea typeface="Public Sans" pitchFamily="34" charset="-122"/>
                <a:cs typeface="Public Sans" pitchFamily="34" charset="-120"/>
              </a:rPr>
              <a:t> cuelga de Realizan: es de “este alumno en este proyecto”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767" y="6238292"/>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4</a:t>
            </a:r>
            <a:endParaRPr lang="en-US" sz="1200" dirty="0"/>
          </a:p>
        </p:txBody>
      </p:sp>
      <p:sp>
        <p:nvSpPr>
          <p:cNvPr id="3" name="Text 1"/>
          <p:cNvSpPr/>
          <p:nvPr/>
        </p:nvSpPr>
        <p:spPr>
          <a:xfrm>
            <a:off x="10058433" y="6238292"/>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10</a:t>
            </a:r>
            <a:endParaRPr lang="en-US" sz="1200" dirty="0"/>
          </a:p>
        </p:txBody>
      </p:sp>
      <p:sp>
        <p:nvSpPr>
          <p:cNvPr id="4" name="Text 2"/>
          <p:cNvSpPr/>
          <p:nvPr>
            <p:ph type="title"/>
          </p:nvPr>
        </p:nvSpPr>
        <p:spPr>
          <a:xfrm>
            <a:off x="812767" y="812763"/>
            <a:ext cx="10883374" cy="52835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Del E/R a tablas: tres reglas</a:t>
            </a:r>
            <a:endParaRPr lang="en-US" sz="3600" dirty="0"/>
          </a:p>
        </p:txBody>
      </p:sp>
      <p:sp>
        <p:nvSpPr>
          <p:cNvPr id="5" name="Shape 3"/>
          <p:cNvSpPr/>
          <p:nvPr/>
        </p:nvSpPr>
        <p:spPr>
          <a:xfrm>
            <a:off x="819117" y="1625600"/>
            <a:ext cx="3373967" cy="1892300"/>
          </a:xfrm>
          <a:prstGeom prst="roundRect">
            <a:avLst>
              <a:gd name="adj" fmla="val 6376"/>
            </a:avLst>
          </a:prstGeom>
          <a:solidFill>
            <a:srgbClr val="FFFFFF"/>
          </a:solidFill>
          <a:ln w="12700">
            <a:solidFill>
              <a:srgbClr val="DCE2EC"/>
            </a:solidFill>
            <a:prstDash val="solid"/>
          </a:ln>
        </p:spPr>
      </p:sp>
      <p:sp>
        <p:nvSpPr>
          <p:cNvPr id="6" name="Text 4"/>
          <p:cNvSpPr/>
          <p:nvPr/>
        </p:nvSpPr>
        <p:spPr>
          <a:xfrm>
            <a:off x="1077350" y="1883829"/>
            <a:ext cx="294322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Public Sans" pitchFamily="34" charset="0"/>
                <a:ea typeface="Public Sans" pitchFamily="34" charset="-122"/>
                <a:cs typeface="Public Sans" pitchFamily="34" charset="-120"/>
              </a:rPr>
              <a:t>ENTIDAD</a:t>
            </a:r>
            <a:endParaRPr lang="en-US" sz="1200" dirty="0"/>
          </a:p>
        </p:txBody>
      </p:sp>
      <p:sp>
        <p:nvSpPr>
          <p:cNvPr id="7" name="Text 5"/>
          <p:cNvSpPr/>
          <p:nvPr/>
        </p:nvSpPr>
        <p:spPr>
          <a:xfrm>
            <a:off x="1077350" y="2198688"/>
            <a:ext cx="2943225" cy="360594"/>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Una tabla</a:t>
            </a:r>
            <a:endParaRPr lang="en-US" sz="2200" dirty="0"/>
          </a:p>
        </p:txBody>
      </p:sp>
      <p:sp>
        <p:nvSpPr>
          <p:cNvPr id="8" name="Text 6"/>
          <p:cNvSpPr/>
          <p:nvPr/>
        </p:nvSpPr>
        <p:spPr>
          <a:xfrm>
            <a:off x="1077350" y="2635411"/>
            <a:ext cx="2943225" cy="52314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E"/>
                </a:solidFill>
                <a:latin typeface="Public Sans" pitchFamily="34" charset="0"/>
                <a:ea typeface="Public Sans" pitchFamily="34" charset="-122"/>
                <a:cs typeface="Public Sans" pitchFamily="34" charset="-120"/>
              </a:rPr>
              <a:t>Su identificador pasa a ser la </a:t>
            </a:r>
            <a:r>
              <a:rPr lang="en-US" sz="1400" b="1" dirty="0">
                <a:solidFill>
                  <a:srgbClr val="14213D"/>
                </a:solidFill>
                <a:latin typeface="Public Sans" pitchFamily="34" charset="0"/>
                <a:ea typeface="Public Sans" pitchFamily="34" charset="-122"/>
                <a:cs typeface="Public Sans" pitchFamily="34" charset="-120"/>
              </a:rPr>
              <a:t>clave primaria (PK)</a:t>
            </a:r>
            <a:r>
              <a:rPr lang="en-US" sz="1400" dirty="0">
                <a:solidFill>
                  <a:srgbClr val="3E4A5E"/>
                </a:solidFill>
                <a:latin typeface="Public Sans" pitchFamily="34" charset="0"/>
                <a:ea typeface="Public Sans" pitchFamily="34" charset="-122"/>
                <a:cs typeface="Public Sans" pitchFamily="34" charset="-120"/>
              </a:rPr>
              <a:t>.</a:t>
            </a:r>
            <a:endParaRPr lang="en-US" sz="1400" dirty="0"/>
          </a:p>
        </p:txBody>
      </p:sp>
      <p:sp>
        <p:nvSpPr>
          <p:cNvPr id="9" name="Shape 7"/>
          <p:cNvSpPr/>
          <p:nvPr/>
        </p:nvSpPr>
        <p:spPr>
          <a:xfrm>
            <a:off x="4408934" y="1625600"/>
            <a:ext cx="3374049" cy="1892300"/>
          </a:xfrm>
          <a:prstGeom prst="roundRect">
            <a:avLst>
              <a:gd name="adj" fmla="val 6376"/>
            </a:avLst>
          </a:prstGeom>
          <a:solidFill>
            <a:srgbClr val="FFFFFF"/>
          </a:solidFill>
          <a:ln w="12700">
            <a:solidFill>
              <a:srgbClr val="DCE2EC"/>
            </a:solidFill>
            <a:prstDash val="solid"/>
          </a:ln>
        </p:spPr>
      </p:sp>
      <p:sp>
        <p:nvSpPr>
          <p:cNvPr id="10" name="Text 8"/>
          <p:cNvSpPr/>
          <p:nvPr/>
        </p:nvSpPr>
        <p:spPr>
          <a:xfrm>
            <a:off x="4667167" y="1883829"/>
            <a:ext cx="29433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Public Sans" pitchFamily="34" charset="0"/>
                <a:ea typeface="Public Sans" pitchFamily="34" charset="-122"/>
                <a:cs typeface="Public Sans" pitchFamily="34" charset="-120"/>
              </a:rPr>
              <a:t>HERENCIA</a:t>
            </a:r>
            <a:endParaRPr lang="en-US" sz="1200" dirty="0"/>
          </a:p>
        </p:txBody>
      </p:sp>
      <p:sp>
        <p:nvSpPr>
          <p:cNvPr id="11" name="Text 9"/>
          <p:cNvSpPr/>
          <p:nvPr/>
        </p:nvSpPr>
        <p:spPr>
          <a:xfrm>
            <a:off x="4667167" y="2198688"/>
            <a:ext cx="2943310" cy="360594"/>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Tabla por subclase</a:t>
            </a:r>
            <a:endParaRPr lang="en-US" sz="2200" dirty="0"/>
          </a:p>
        </p:txBody>
      </p:sp>
      <p:sp>
        <p:nvSpPr>
          <p:cNvPr id="12" name="Text 10"/>
          <p:cNvSpPr/>
          <p:nvPr/>
        </p:nvSpPr>
        <p:spPr>
          <a:xfrm>
            <a:off x="4667167" y="2635411"/>
            <a:ext cx="2943310" cy="52314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E"/>
                </a:solidFill>
                <a:latin typeface="Public Sans" pitchFamily="34" charset="0"/>
                <a:ea typeface="Public Sans" pitchFamily="34" charset="-122"/>
                <a:cs typeface="Public Sans" pitchFamily="34" charset="-120"/>
              </a:rPr>
              <a:t>Su PK es el id de persona, que a la vez es </a:t>
            </a:r>
            <a:r>
              <a:rPr lang="en-US" sz="1400" b="1" dirty="0">
                <a:solidFill>
                  <a:srgbClr val="14213D"/>
                </a:solidFill>
                <a:latin typeface="Public Sans" pitchFamily="34" charset="0"/>
                <a:ea typeface="Public Sans" pitchFamily="34" charset="-122"/>
                <a:cs typeface="Public Sans" pitchFamily="34" charset="-120"/>
              </a:rPr>
              <a:t>FK</a:t>
            </a:r>
            <a:r>
              <a:rPr lang="en-US" sz="1400" dirty="0">
                <a:solidFill>
                  <a:srgbClr val="3E4A5E"/>
                </a:solidFill>
                <a:latin typeface="Public Sans" pitchFamily="34" charset="0"/>
                <a:ea typeface="Public Sans" pitchFamily="34" charset="-122"/>
                <a:cs typeface="Public Sans" pitchFamily="34" charset="-120"/>
              </a:rPr>
              <a:t> a persona.</a:t>
            </a:r>
            <a:endParaRPr lang="en-US" sz="1400" dirty="0"/>
          </a:p>
        </p:txBody>
      </p:sp>
      <p:sp>
        <p:nvSpPr>
          <p:cNvPr id="13" name="Shape 11"/>
          <p:cNvSpPr/>
          <p:nvPr/>
        </p:nvSpPr>
        <p:spPr>
          <a:xfrm>
            <a:off x="7998833" y="1625600"/>
            <a:ext cx="3373967" cy="1892300"/>
          </a:xfrm>
          <a:prstGeom prst="roundRect">
            <a:avLst>
              <a:gd name="adj" fmla="val 6376"/>
            </a:avLst>
          </a:prstGeom>
          <a:solidFill>
            <a:srgbClr val="FFFFFF"/>
          </a:solidFill>
          <a:ln w="12700">
            <a:solidFill>
              <a:srgbClr val="DCE2EC"/>
            </a:solidFill>
            <a:prstDash val="solid"/>
          </a:ln>
        </p:spPr>
      </p:sp>
      <p:sp>
        <p:nvSpPr>
          <p:cNvPr id="14" name="Text 12"/>
          <p:cNvSpPr/>
          <p:nvPr/>
        </p:nvSpPr>
        <p:spPr>
          <a:xfrm>
            <a:off x="8257067" y="1883829"/>
            <a:ext cx="294322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Public Sans" pitchFamily="34" charset="0"/>
                <a:ea typeface="Public Sans" pitchFamily="34" charset="-122"/>
                <a:cs typeface="Public Sans" pitchFamily="34" charset="-120"/>
              </a:rPr>
              <a:t>RELACIÓN N:M</a:t>
            </a:r>
            <a:endParaRPr lang="en-US" sz="1200" dirty="0"/>
          </a:p>
        </p:txBody>
      </p:sp>
      <p:sp>
        <p:nvSpPr>
          <p:cNvPr id="15" name="Text 13"/>
          <p:cNvSpPr/>
          <p:nvPr/>
        </p:nvSpPr>
        <p:spPr>
          <a:xfrm>
            <a:off x="8257067" y="2198688"/>
            <a:ext cx="2943225" cy="360594"/>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Tabla intermedia</a:t>
            </a:r>
            <a:endParaRPr lang="en-US" sz="2200" dirty="0"/>
          </a:p>
        </p:txBody>
      </p:sp>
      <p:sp>
        <p:nvSpPr>
          <p:cNvPr id="16" name="Text 14"/>
          <p:cNvSpPr/>
          <p:nvPr/>
        </p:nvSpPr>
        <p:spPr>
          <a:xfrm>
            <a:off x="8257067" y="2635411"/>
            <a:ext cx="2943225" cy="52314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E"/>
                </a:solidFill>
                <a:latin typeface="Public Sans" pitchFamily="34" charset="0"/>
                <a:ea typeface="Public Sans" pitchFamily="34" charset="-122"/>
                <a:cs typeface="Public Sans" pitchFamily="34" charset="-120"/>
              </a:rPr>
              <a:t>Con las dos PK, que juntas forman su PK y cada una es FK.</a:t>
            </a:r>
            <a:endParaRPr lang="en-US" sz="1400" dirty="0"/>
          </a:p>
        </p:txBody>
      </p:sp>
      <p:sp>
        <p:nvSpPr>
          <p:cNvPr id="17" name="Text 15"/>
          <p:cNvSpPr/>
          <p:nvPr/>
        </p:nvSpPr>
        <p:spPr>
          <a:xfrm>
            <a:off x="812767" y="3835381"/>
            <a:ext cx="10566383" cy="1098517"/>
          </a:xfrm>
          <a:prstGeom prst="roundRect">
            <a:avLst>
              <a:gd name="adj" fmla="val 11561"/>
            </a:avLst>
          </a:prstGeom>
          <a:solidFill>
            <a:srgbClr val="14213D"/>
          </a:solidFill>
          <a:ln/>
        </p:spPr>
        <p:txBody>
          <a:bodyPr wrap="none" lIns="242203" tIns="179298" rIns="242203" bIns="179298" rtlCol="0" anchor="ctr">
            <a:normAutofit/>
          </a:bodyPr>
          <a:lstStyle/>
          <a:p>
            <a:pPr algn="l" indent="0" marL="0">
              <a:lnSpc>
                <a:spcPts val="5040"/>
              </a:lnSpc>
              <a:buNone/>
            </a:pPr>
            <a:r>
              <a:rPr lang="en-US" sz="3600" b="1" dirty="0">
                <a:solidFill>
                  <a:srgbClr val="F2A65A"/>
                </a:solidFill>
                <a:latin typeface="Space Grotesk" pitchFamily="34" charset="0"/>
                <a:ea typeface="Space Grotesk" pitchFamily="34" charset="-122"/>
                <a:cs typeface="Space Grotesk" pitchFamily="34" charset="-120"/>
              </a:rPr>
              <a:t>3 + 2 + 5 = 10</a:t>
            </a:r>
            <a:endParaRPr lang="en-US" sz="3600" dirty="0"/>
          </a:p>
        </p:txBody>
      </p:sp>
      <p:sp>
        <p:nvSpPr>
          <p:cNvPr id="18" name="Text 16"/>
          <p:cNvSpPr/>
          <p:nvPr/>
        </p:nvSpPr>
        <p:spPr>
          <a:xfrm>
            <a:off x="4340572" y="4097648"/>
            <a:ext cx="6968443" cy="558701"/>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5F0"/>
                </a:solidFill>
                <a:latin typeface="Public Sans" pitchFamily="34" charset="0"/>
                <a:ea typeface="Public Sans" pitchFamily="34" charset="-122"/>
                <a:cs typeface="Public Sans" pitchFamily="34" charset="-120"/>
              </a:rPr>
              <a:t>3 entidades (persona, promocion, proyecto) + 2 subclases (alumnos, profesor) + 5 tablas intermedias.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767" y="6238292"/>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4 · Hecho en draw.io</a:t>
            </a:r>
            <a:endParaRPr lang="en-US" sz="1200" dirty="0"/>
          </a:p>
        </p:txBody>
      </p:sp>
      <p:sp>
        <p:nvSpPr>
          <p:cNvPr id="3" name="Text 1"/>
          <p:cNvSpPr/>
          <p:nvPr/>
        </p:nvSpPr>
        <p:spPr>
          <a:xfrm>
            <a:off x="10058433" y="6238292"/>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11</a:t>
            </a:r>
            <a:endParaRPr lang="en-US" sz="1200" dirty="0"/>
          </a:p>
        </p:txBody>
      </p:sp>
      <p:sp>
        <p:nvSpPr>
          <p:cNvPr id="4" name="Text 2"/>
          <p:cNvSpPr/>
          <p:nvPr>
            <p:ph type="title"/>
          </p:nvPr>
        </p:nvSpPr>
        <p:spPr>
          <a:xfrm>
            <a:off x="812767" y="812763"/>
            <a:ext cx="10883374" cy="52835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El modelo lógico: 10 tablas</a:t>
            </a:r>
            <a:endParaRPr lang="en-US" sz="3600" dirty="0"/>
          </a:p>
        </p:txBody>
      </p:sp>
      <p:sp>
        <p:nvSpPr>
          <p:cNvPr id="5" name="Shape 3"/>
          <p:cNvSpPr/>
          <p:nvPr/>
        </p:nvSpPr>
        <p:spPr>
          <a:xfrm>
            <a:off x="812767" y="1517631"/>
            <a:ext cx="4445000" cy="4152883"/>
          </a:xfrm>
          <a:prstGeom prst="roundRect">
            <a:avLst>
              <a:gd name="adj" fmla="val 2446"/>
            </a:avLst>
          </a:prstGeom>
          <a:solidFill>
            <a:srgbClr val="FFFFFF"/>
          </a:solidFill>
          <a:ln/>
        </p:spPr>
      </p:sp>
      <p:pic>
        <p:nvPicPr>
          <p:cNvPr id="6" name="Image 0" descr="Modelo lógico con las 10 tablas, sus claves primarias y foráneas, hecho en draw.io">    </p:cNvPr>
          <p:cNvPicPr>
            <a:picLocks noChangeAspect="1"/>
          </p:cNvPicPr>
          <p:nvPr/>
        </p:nvPicPr>
        <p:blipFill>
          <a:blip r:embed="rId1"/>
          <a:stretch>
            <a:fillRect/>
          </a:stretch>
        </p:blipFill>
        <p:spPr>
          <a:xfrm>
            <a:off x="1144925" y="1530331"/>
            <a:ext cx="3780684" cy="4127483"/>
          </a:xfrm>
          <a:prstGeom prst="rect">
            <a:avLst/>
          </a:prstGeom>
        </p:spPr>
      </p:pic>
      <p:sp>
        <p:nvSpPr>
          <p:cNvPr id="7" name="Shape 4"/>
          <p:cNvSpPr/>
          <p:nvPr/>
        </p:nvSpPr>
        <p:spPr>
          <a:xfrm>
            <a:off x="819117" y="1523981"/>
            <a:ext cx="4432300" cy="4140183"/>
          </a:xfrm>
          <a:prstGeom prst="roundRect">
            <a:avLst>
              <a:gd name="adj" fmla="val 2301"/>
            </a:avLst>
          </a:prstGeom>
          <a:noFill/>
          <a:ln w="12700">
            <a:solidFill>
              <a:srgbClr val="DCE2EC"/>
            </a:solidFill>
            <a:prstDash val="solid"/>
          </a:ln>
        </p:spPr>
      </p:sp>
      <p:sp>
        <p:nvSpPr>
          <p:cNvPr id="8" name="Text 5"/>
          <p:cNvSpPr/>
          <p:nvPr/>
        </p:nvSpPr>
        <p:spPr>
          <a:xfrm>
            <a:off x="5511767" y="2494440"/>
            <a:ext cx="6043405" cy="52314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persona</a:t>
            </a:r>
            <a:r>
              <a:rPr lang="en-US" sz="1400" dirty="0">
                <a:solidFill>
                  <a:srgbClr val="3E4A5E"/>
                </a:solidFill>
                <a:latin typeface="Public Sans" pitchFamily="34" charset="0"/>
                <a:ea typeface="Public Sans" pitchFamily="34" charset="-122"/>
                <a:cs typeface="Public Sans" pitchFamily="34" charset="-120"/>
              </a:rPr>
              <a:t> guarda nombre y email una sola vez. </a:t>
            </a:r>
            <a:r>
              <a:rPr lang="en-US" sz="1400" b="1" dirty="0">
                <a:solidFill>
                  <a:srgbClr val="14213D"/>
                </a:solidFill>
                <a:latin typeface="Public Sans" pitchFamily="34" charset="0"/>
                <a:ea typeface="Public Sans" pitchFamily="34" charset="-122"/>
                <a:cs typeface="Public Sans" pitchFamily="34" charset="-120"/>
              </a:rPr>
              <a:t>alumnos</a:t>
            </a:r>
            <a:r>
              <a:rPr lang="en-US" sz="1400" dirty="0">
                <a:solidFill>
                  <a:srgbClr val="3E4A5E"/>
                </a:solidFill>
                <a:latin typeface="Public Sans" pitchFamily="34" charset="0"/>
                <a:ea typeface="Public Sans" pitchFamily="34" charset="-122"/>
                <a:cs typeface="Public Sans" pitchFamily="34" charset="-120"/>
              </a:rPr>
              <a:t> y </a:t>
            </a:r>
            <a:r>
              <a:rPr lang="en-US" sz="1400" b="1" dirty="0">
                <a:solidFill>
                  <a:srgbClr val="14213D"/>
                </a:solidFill>
                <a:latin typeface="Public Sans" pitchFamily="34" charset="0"/>
                <a:ea typeface="Public Sans" pitchFamily="34" charset="-122"/>
                <a:cs typeface="Public Sans" pitchFamily="34" charset="-120"/>
              </a:rPr>
              <a:t>profesor</a:t>
            </a:r>
            <a:r>
              <a:rPr lang="en-US" sz="1400" dirty="0">
                <a:solidFill>
                  <a:srgbClr val="3E4A5E"/>
                </a:solidFill>
                <a:latin typeface="Public Sans" pitchFamily="34" charset="0"/>
                <a:ea typeface="Public Sans" pitchFamily="34" charset="-122"/>
                <a:cs typeface="Public Sans" pitchFamily="34" charset="-120"/>
              </a:rPr>
              <a:t> usan su id como PK y FK (relación 1:1)</a:t>
            </a:r>
            <a:endParaRPr lang="en-US" sz="1400" dirty="0"/>
          </a:p>
        </p:txBody>
      </p:sp>
      <p:sp>
        <p:nvSpPr>
          <p:cNvPr id="9" name="Text 6"/>
          <p:cNvSpPr/>
          <p:nvPr/>
        </p:nvSpPr>
        <p:spPr>
          <a:xfrm>
            <a:off x="5511767" y="3144571"/>
            <a:ext cx="6043405" cy="52314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PK FK</a:t>
            </a:r>
            <a:r>
              <a:rPr lang="en-US" sz="1400" dirty="0">
                <a:solidFill>
                  <a:srgbClr val="3E4A5E"/>
                </a:solidFill>
                <a:latin typeface="Public Sans" pitchFamily="34" charset="0"/>
                <a:ea typeface="Public Sans" pitchFamily="34" charset="-122"/>
                <a:cs typeface="Public Sans" pitchFamily="34" charset="-120"/>
              </a:rPr>
              <a:t> en las 5 intermedias: la clave es la pareja, y cada parte apunta a su tabla</a:t>
            </a:r>
            <a:endParaRPr lang="en-US" sz="1400" dirty="0"/>
          </a:p>
        </p:txBody>
      </p:sp>
      <p:sp>
        <p:nvSpPr>
          <p:cNvPr id="10" name="Text 7"/>
          <p:cNvSpPr/>
          <p:nvPr/>
        </p:nvSpPr>
        <p:spPr>
          <a:xfrm>
            <a:off x="5511767" y="3794702"/>
            <a:ext cx="6043405" cy="52314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alumnoProyecto</a:t>
            </a:r>
            <a:r>
              <a:rPr lang="en-US" sz="1400" dirty="0">
                <a:solidFill>
                  <a:srgbClr val="3E4A5E"/>
                </a:solidFill>
                <a:latin typeface="Public Sans" pitchFamily="34" charset="0"/>
                <a:ea typeface="Public Sans" pitchFamily="34" charset="-122"/>
                <a:cs typeface="Public Sans" pitchFamily="34" charset="-120"/>
              </a:rPr>
              <a:t>: 52 alumnos × 5 proyectos = 260 notas. La PK compuesta impide dos notas del mismo alumno en el mismo proyecto</a:t>
            </a:r>
            <a:endParaRPr lang="en-US" sz="1400" dirty="0"/>
          </a:p>
        </p:txBody>
      </p:sp>
      <p:sp>
        <p:nvSpPr>
          <p:cNvPr id="11" name="Text 8"/>
          <p:cNvSpPr/>
          <p:nvPr/>
        </p:nvSpPr>
        <p:spPr>
          <a:xfrm>
            <a:off x="5511767" y="4444833"/>
            <a:ext cx="6043405" cy="27427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Public Sans" pitchFamily="34" charset="0"/>
                <a:ea typeface="Public Sans" pitchFamily="34" charset="-122"/>
                <a:cs typeface="Public Sans" pitchFamily="34" charset="-120"/>
              </a:rPr>
              <a:t>MesPromoción</a:t>
            </a:r>
            <a:r>
              <a:rPr lang="en-US" sz="1400" dirty="0">
                <a:solidFill>
                  <a:srgbClr val="3E4A5E"/>
                </a:solidFill>
                <a:latin typeface="Public Sans" pitchFamily="34" charset="0"/>
                <a:ea typeface="Public Sans" pitchFamily="34" charset="-122"/>
                <a:cs typeface="Public Sans" pitchFamily="34" charset="-120"/>
              </a:rPr>
              <a:t> no es columna: se calcula a partir de la fecha</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767" y="6238292"/>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5</a:t>
            </a:r>
            <a:endParaRPr lang="en-US" sz="1200" dirty="0"/>
          </a:p>
        </p:txBody>
      </p:sp>
      <p:sp>
        <p:nvSpPr>
          <p:cNvPr id="3" name="Text 1"/>
          <p:cNvSpPr/>
          <p:nvPr/>
        </p:nvSpPr>
        <p:spPr>
          <a:xfrm>
            <a:off x="10058433" y="6238292"/>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12</a:t>
            </a:r>
            <a:endParaRPr lang="en-US" sz="1200" dirty="0"/>
          </a:p>
        </p:txBody>
      </p:sp>
      <p:sp>
        <p:nvSpPr>
          <p:cNvPr id="4" name="Text 2"/>
          <p:cNvSpPr/>
          <p:nvPr>
            <p:ph type="title"/>
          </p:nvPr>
        </p:nvSpPr>
        <p:spPr>
          <a:xfrm>
            <a:off x="812767" y="812763"/>
            <a:ext cx="10883374" cy="52835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De MySQL Workbench a PostgreSQL</a:t>
            </a:r>
            <a:endParaRPr lang="en-US" sz="3600" dirty="0"/>
          </a:p>
        </p:txBody>
      </p:sp>
      <p:sp>
        <p:nvSpPr>
          <p:cNvPr id="5" name="Shape 3"/>
          <p:cNvSpPr/>
          <p:nvPr/>
        </p:nvSpPr>
        <p:spPr>
          <a:xfrm>
            <a:off x="812767" y="1587500"/>
            <a:ext cx="10566383" cy="2074333"/>
          </a:xfrm>
          <a:prstGeom prst="rect">
            <a:avLst/>
          </a:prstGeom>
          <a:solidFill>
            <a:srgbClr val="FFFF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3350" y="1598083"/>
          <a:ext cx="10555800" cy="2063750"/>
        </p:xfrm>
        <a:graphic>
          <a:graphicData uri="http://schemas.openxmlformats.org/drawingml/2006/table">
            <a:tbl>
              <a:tblPr/>
              <a:tblGrid>
                <a:gridCol w="3166740"/>
                <a:gridCol w="4011204"/>
                <a:gridCol w="3377856"/>
              </a:tblGrid>
              <a:tr h="343958">
                <a:tc>
                  <a:txBody>
                    <a:bodyPr/>
                    <a:lstStyle/>
                    <a:p>
                      <a:pPr indent="0" marL="0">
                        <a:lnSpc>
                          <a:spcPts val="1750"/>
                        </a:lnSpc>
                        <a:buNone/>
                      </a:pPr>
                      <a:r>
                        <a:rPr lang="en-US" sz="1250" b="1" dirty="0">
                          <a:solidFill>
                            <a:srgbClr val="14213D"/>
                          </a:solidFill>
                          <a:latin typeface="Public Sans" pitchFamily="34" charset="0"/>
                          <a:ea typeface="Public Sans" pitchFamily="34" charset="-122"/>
                          <a:cs typeface="Public Sans" pitchFamily="34" charset="-120"/>
                        </a:rPr>
                        <a:t>En MySQL</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750"/>
                        </a:lnSpc>
                        <a:buNone/>
                      </a:pPr>
                      <a:r>
                        <a:rPr lang="en-US" sz="1250" b="1" dirty="0">
                          <a:solidFill>
                            <a:srgbClr val="14213D"/>
                          </a:solidFill>
                          <a:latin typeface="Public Sans" pitchFamily="34" charset="0"/>
                          <a:ea typeface="Public Sans" pitchFamily="34" charset="-122"/>
                          <a:cs typeface="Public Sans" pitchFamily="34" charset="-120"/>
                        </a:rPr>
                        <a:t>En PostgreSQL</a:t>
                      </a:r>
                      <a:endParaRPr lang="en-US" sz="1250" dirty="0">
                        <a:latin typeface="Public Sans" charset="0"/>
                        <a:ea typeface="Public Sans" charset="0"/>
                        <a:cs typeface="Public Sans" charset="0"/>
                      </a:endParaRPr>
                    </a:p>
                  </a:txBody>
                  <a:tcPr marL="55563" marR="55563" marT="55563" marB="55563"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750"/>
                        </a:lnSpc>
                        <a:buNone/>
                      </a:pPr>
                      <a:r>
                        <a:rPr lang="en-US" sz="1250" b="1" dirty="0">
                          <a:solidFill>
                            <a:srgbClr val="14213D"/>
                          </a:solidFill>
                          <a:latin typeface="Public Sans" pitchFamily="34" charset="0"/>
                          <a:ea typeface="Public Sans" pitchFamily="34" charset="-122"/>
                          <a:cs typeface="Public Sans" pitchFamily="34" charset="-120"/>
                        </a:rPr>
                        <a:t>Por qué</a:t>
                      </a:r>
                      <a:endParaRPr lang="en-US" sz="1250" dirty="0">
                        <a:latin typeface="Public Sans" charset="0"/>
                        <a:ea typeface="Public Sans" charset="0"/>
                        <a:cs typeface="Public Sans" charset="0"/>
                      </a:endParaRPr>
                    </a:p>
                  </a:txBody>
                  <a:tcPr marL="55563" marR="55563" marT="55563" marB="55563"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43958">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AUTO_INCREMENT</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GENERATED … AS IDENTITY</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Numeración automática estándar</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958">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ENUM('presencial','online')</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VARCHAR + CHECK</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No admite ENUM dentro de la tabla</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958">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MONTH(fecha)</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EXTRACT(MONTH FROM fecha)</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Para calcular MesPromoción</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958">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CREATE DATABASE, USE</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CREATE SCHEMA v2</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Supabase ya da la base</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958">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BEGIN … COMMIT</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Si algo falla, nada a medias</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Shape 4"/>
          <p:cNvSpPr/>
          <p:nvPr/>
        </p:nvSpPr>
        <p:spPr>
          <a:xfrm>
            <a:off x="812767" y="4222750"/>
            <a:ext cx="3403616" cy="1066767"/>
          </a:xfrm>
          <a:prstGeom prst="roundRect">
            <a:avLst>
              <a:gd name="adj" fmla="val 11905"/>
            </a:avLst>
          </a:prstGeom>
          <a:solidFill>
            <a:srgbClr val="EAEEF6"/>
          </a:solidFill>
          <a:ln/>
        </p:spPr>
      </p:sp>
      <p:sp>
        <p:nvSpPr>
          <p:cNvPr id="8" name="Text 5"/>
          <p:cNvSpPr/>
          <p:nvPr/>
        </p:nvSpPr>
        <p:spPr>
          <a:xfrm>
            <a:off x="1015917" y="4400513"/>
            <a:ext cx="3087235"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1 · Crear las tablas</a:t>
            </a:r>
            <a:endParaRPr lang="en-US" sz="1300" dirty="0"/>
          </a:p>
        </p:txBody>
      </p:sp>
      <p:sp>
        <p:nvSpPr>
          <p:cNvPr id="9" name="Text 6"/>
          <p:cNvSpPr/>
          <p:nvPr/>
        </p:nvSpPr>
        <p:spPr>
          <a:xfrm>
            <a:off x="1015917" y="4682381"/>
            <a:ext cx="30872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E"/>
                </a:solidFill>
                <a:latin typeface="Public Sans" pitchFamily="34" charset="0"/>
                <a:ea typeface="Public Sans" pitchFamily="34" charset="-122"/>
                <a:cs typeface="Public Sans" pitchFamily="34" charset="-120"/>
              </a:rPr>
              <a:t>persona, promocion, proyecto → alumnos, profesor → intermedias</a:t>
            </a:r>
            <a:endParaRPr lang="en-US" sz="1200" dirty="0"/>
          </a:p>
        </p:txBody>
      </p:sp>
      <p:sp>
        <p:nvSpPr>
          <p:cNvPr id="10" name="Shape 7"/>
          <p:cNvSpPr/>
          <p:nvPr/>
        </p:nvSpPr>
        <p:spPr>
          <a:xfrm>
            <a:off x="4394150" y="4222750"/>
            <a:ext cx="3403616" cy="1066767"/>
          </a:xfrm>
          <a:prstGeom prst="roundRect">
            <a:avLst>
              <a:gd name="adj" fmla="val 11905"/>
            </a:avLst>
          </a:prstGeom>
          <a:solidFill>
            <a:srgbClr val="EAEEF6"/>
          </a:solidFill>
          <a:ln/>
        </p:spPr>
      </p:sp>
      <p:sp>
        <p:nvSpPr>
          <p:cNvPr id="11" name="Text 8"/>
          <p:cNvSpPr/>
          <p:nvPr/>
        </p:nvSpPr>
        <p:spPr>
          <a:xfrm>
            <a:off x="4597301" y="4400513"/>
            <a:ext cx="3087235"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2 · Cargar los CSV</a:t>
            </a:r>
            <a:endParaRPr lang="en-US" sz="1300" dirty="0"/>
          </a:p>
        </p:txBody>
      </p:sp>
      <p:sp>
        <p:nvSpPr>
          <p:cNvPr id="12" name="Text 9"/>
          <p:cNvSpPr/>
          <p:nvPr/>
        </p:nvSpPr>
        <p:spPr>
          <a:xfrm>
            <a:off x="4597301" y="4682381"/>
            <a:ext cx="308723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E"/>
                </a:solidFill>
                <a:latin typeface="Public Sans" pitchFamily="34" charset="0"/>
                <a:ea typeface="Public Sans" pitchFamily="34" charset="-122"/>
                <a:cs typeface="Public Sans" pitchFamily="34" charset="-120"/>
              </a:rPr>
              <a:t>INSERT generados aplicando la normalización</a:t>
            </a:r>
            <a:endParaRPr lang="en-US" sz="1200" dirty="0"/>
          </a:p>
        </p:txBody>
      </p:sp>
      <p:sp>
        <p:nvSpPr>
          <p:cNvPr id="13" name="Shape 10"/>
          <p:cNvSpPr/>
          <p:nvPr/>
        </p:nvSpPr>
        <p:spPr>
          <a:xfrm>
            <a:off x="7975533" y="4222750"/>
            <a:ext cx="3403616" cy="1066767"/>
          </a:xfrm>
          <a:prstGeom prst="roundRect">
            <a:avLst>
              <a:gd name="adj" fmla="val 11905"/>
            </a:avLst>
          </a:prstGeom>
          <a:solidFill>
            <a:srgbClr val="EAEEF6"/>
          </a:solidFill>
          <a:ln/>
        </p:spPr>
      </p:sp>
      <p:sp>
        <p:nvSpPr>
          <p:cNvPr id="14" name="Text 11"/>
          <p:cNvSpPr/>
          <p:nvPr/>
        </p:nvSpPr>
        <p:spPr>
          <a:xfrm>
            <a:off x="8178684" y="4400513"/>
            <a:ext cx="3087235"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3 · Ejecutar en Supabase</a:t>
            </a:r>
            <a:endParaRPr lang="en-US" sz="1300" dirty="0"/>
          </a:p>
        </p:txBody>
      </p:sp>
      <p:sp>
        <p:nvSpPr>
          <p:cNvPr id="15" name="Text 12"/>
          <p:cNvSpPr/>
          <p:nvPr/>
        </p:nvSpPr>
        <p:spPr>
          <a:xfrm>
            <a:off x="8178684" y="4682381"/>
            <a:ext cx="30872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E"/>
                </a:solidFill>
                <a:latin typeface="Public Sans" pitchFamily="34" charset="0"/>
                <a:ea typeface="Public Sans" pitchFamily="34" charset="-122"/>
                <a:cs typeface="Public Sans" pitchFamily="34" charset="-120"/>
              </a:rPr>
              <a:t>SQL Editor → pegar el script → Run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67" y="812763"/>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Nuestro script: de MySQL a PostgreSQL (1/2)</a:t>
            </a:r>
            <a:endParaRPr lang="en-US" sz="3200" dirty="0"/>
          </a:p>
        </p:txBody>
      </p:sp>
      <p:sp>
        <p:nvSpPr>
          <p:cNvPr id="3" name="Text 1"/>
          <p:cNvSpPr/>
          <p:nvPr/>
        </p:nvSpPr>
        <p:spPr>
          <a:xfrm>
            <a:off x="812767" y="1437512"/>
            <a:ext cx="4185920"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Public Sans" pitchFamily="34" charset="0"/>
                <a:ea typeface="Public Sans" pitchFamily="34" charset="-122"/>
                <a:cs typeface="Public Sans" pitchFamily="34" charset="-120"/>
              </a:rPr>
              <a:t>MySQL Workbench</a:t>
            </a:r>
            <a:r>
              <a:rPr lang="en-US" sz="1300" b="1" dirty="0">
                <a:solidFill>
                  <a:srgbClr val="14213D"/>
                </a:solidFill>
                <a:latin typeface="Public Sans" pitchFamily="34" charset="0"/>
                <a:ea typeface="Public Sans" pitchFamily="34" charset="-122"/>
                <a:cs typeface="Public Sans" pitchFamily="34" charset="-120"/>
              </a:rPr>
              <a:t> · lo que escribimos</a:t>
            </a:r>
            <a:endParaRPr lang="en-US" sz="1300" dirty="0"/>
          </a:p>
        </p:txBody>
      </p:sp>
      <p:sp>
        <p:nvSpPr>
          <p:cNvPr id="4" name="Shape 2"/>
          <p:cNvSpPr/>
          <p:nvPr/>
        </p:nvSpPr>
        <p:spPr>
          <a:xfrm>
            <a:off x="812767" y="1744762"/>
            <a:ext cx="4064000" cy="4064000"/>
          </a:xfrm>
          <a:prstGeom prst="roundRect">
            <a:avLst>
              <a:gd name="adj" fmla="val 2500"/>
            </a:avLst>
          </a:prstGeom>
          <a:solidFill>
            <a:srgbClr val="FFFFFF"/>
          </a:solidFill>
          <a:ln/>
        </p:spPr>
      </p:sp>
      <p:pic>
        <p:nvPicPr>
          <p:cNvPr id="5" name="Image 0" descr="Script MySQL: CREATE DATABASE y las tablas persona, alumnos, profesor, promocion y proyecto">    </p:cNvPr>
          <p:cNvPicPr>
            <a:picLocks noChangeAspect="1"/>
          </p:cNvPicPr>
          <p:nvPr/>
        </p:nvPicPr>
        <p:blipFill>
          <a:blip r:embed="rId1"/>
          <a:stretch>
            <a:fillRect/>
          </a:stretch>
        </p:blipFill>
        <p:spPr>
          <a:xfrm>
            <a:off x="1613955" y="1757462"/>
            <a:ext cx="2461623" cy="4038600"/>
          </a:xfrm>
          <a:prstGeom prst="rect">
            <a:avLst/>
          </a:prstGeom>
        </p:spPr>
      </p:pic>
      <p:sp>
        <p:nvSpPr>
          <p:cNvPr id="6" name="Shape 3"/>
          <p:cNvSpPr/>
          <p:nvPr/>
        </p:nvSpPr>
        <p:spPr>
          <a:xfrm>
            <a:off x="819117" y="1751112"/>
            <a:ext cx="4051300" cy="4051300"/>
          </a:xfrm>
          <a:prstGeom prst="roundRect">
            <a:avLst>
              <a:gd name="adj" fmla="val 2351"/>
            </a:avLst>
          </a:prstGeom>
          <a:noFill/>
          <a:ln w="12700">
            <a:solidFill>
              <a:srgbClr val="DCE2EC"/>
            </a:solidFill>
            <a:prstDash val="solid"/>
          </a:ln>
        </p:spPr>
      </p:sp>
      <p:pic>
        <p:nvPicPr>
          <p:cNvPr id="7" name="Image 1" descr="arrow-right">    </p:cNvPr>
          <p:cNvPicPr>
            <a:picLocks noChangeAspect="1"/>
          </p:cNvPicPr>
          <p:nvPr/>
        </p:nvPicPr>
        <p:blipFill>
          <a:blip r:embed="rId2"/>
          <a:srcRect l="0" r="0" t="-6" b="-6"/>
          <a:stretch/>
        </p:blipFill>
        <p:spPr>
          <a:xfrm>
            <a:off x="5054534" y="3496134"/>
            <a:ext cx="457150" cy="254000"/>
          </a:xfrm>
          <a:prstGeom prst="rect">
            <a:avLst/>
          </a:prstGeom>
        </p:spPr>
      </p:pic>
      <p:sp>
        <p:nvSpPr>
          <p:cNvPr id="8" name="Text 4"/>
          <p:cNvSpPr/>
          <p:nvPr/>
        </p:nvSpPr>
        <p:spPr>
          <a:xfrm>
            <a:off x="5689451" y="1437512"/>
            <a:ext cx="5860475"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Public Sans" pitchFamily="34" charset="0"/>
                <a:ea typeface="Public Sans" pitchFamily="34" charset="-122"/>
                <a:cs typeface="Public Sans" pitchFamily="34" charset="-120"/>
              </a:rPr>
              <a:t>PostgreSQL · Supabase</a:t>
            </a:r>
            <a:r>
              <a:rPr lang="en-US" sz="1300" b="1" dirty="0">
                <a:solidFill>
                  <a:srgbClr val="14213D"/>
                </a:solidFill>
                <a:latin typeface="Public Sans" pitchFamily="34" charset="0"/>
                <a:ea typeface="Public Sans" pitchFamily="34" charset="-122"/>
                <a:cs typeface="Public Sans" pitchFamily="34" charset="-120"/>
              </a:rPr>
              <a:t> · </a:t>
            </a:r>
            <a:r>
              <a:rPr lang="en-US" sz="1300" b="1" dirty="0">
                <a:solidFill>
                  <a:srgbClr val="9A6B00"/>
                </a:solidFill>
                <a:latin typeface="Public Sans" pitchFamily="34" charset="0"/>
                <a:ea typeface="Public Sans" pitchFamily="34" charset="-122"/>
                <a:cs typeface="Public Sans" pitchFamily="34" charset="-120"/>
              </a:rPr>
              <a:t>en amarillo, lo que cambia</a:t>
            </a:r>
            <a:endParaRPr lang="en-US" sz="1300" dirty="0"/>
          </a:p>
        </p:txBody>
      </p:sp>
      <p:sp>
        <p:nvSpPr>
          <p:cNvPr id="9" name="Shape 5"/>
          <p:cNvSpPr/>
          <p:nvPr/>
        </p:nvSpPr>
        <p:spPr>
          <a:xfrm>
            <a:off x="5689451" y="1744762"/>
            <a:ext cx="5461000" cy="4064000"/>
          </a:xfrm>
          <a:prstGeom prst="roundRect">
            <a:avLst>
              <a:gd name="adj" fmla="val 2500"/>
            </a:avLst>
          </a:prstGeom>
          <a:solidFill>
            <a:srgbClr val="FFFFFF"/>
          </a:solidFill>
          <a:ln/>
        </p:spPr>
      </p:sp>
      <p:pic>
        <p:nvPicPr>
          <p:cNvPr id="10" name="Image 2" descr="El mismo script en PostgreSQL, con BEGIN, CREATE SCHEMA, IDENTITY y CHECK resaltados">    </p:cNvPr>
          <p:cNvPicPr>
            <a:picLocks noChangeAspect="1"/>
          </p:cNvPicPr>
          <p:nvPr/>
        </p:nvPicPr>
        <p:blipFill>
          <a:blip r:embed="rId3"/>
          <a:stretch>
            <a:fillRect/>
          </a:stretch>
        </p:blipFill>
        <p:spPr>
          <a:xfrm>
            <a:off x="6845107" y="1757462"/>
            <a:ext cx="3149688" cy="4038600"/>
          </a:xfrm>
          <a:prstGeom prst="rect">
            <a:avLst/>
          </a:prstGeom>
        </p:spPr>
      </p:pic>
      <p:sp>
        <p:nvSpPr>
          <p:cNvPr id="11" name="Shape 6"/>
          <p:cNvSpPr/>
          <p:nvPr/>
        </p:nvSpPr>
        <p:spPr>
          <a:xfrm>
            <a:off x="5695801" y="1751112"/>
            <a:ext cx="5448300" cy="4051300"/>
          </a:xfrm>
          <a:prstGeom prst="roundRect">
            <a:avLst>
              <a:gd name="adj" fmla="val 2351"/>
            </a:avLst>
          </a:prstGeom>
          <a:noFill/>
          <a:ln w="12700">
            <a:solidFill>
              <a:srgbClr val="DCE2EC"/>
            </a:solidFill>
            <a:prstDash val="solid"/>
          </a:ln>
        </p:spPr>
      </p:sp>
      <p:sp>
        <p:nvSpPr>
          <p:cNvPr id="12" name="Text 7"/>
          <p:cNvSpPr/>
          <p:nvPr/>
        </p:nvSpPr>
        <p:spPr>
          <a:xfrm>
            <a:off x="812767" y="6238292"/>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5 · Script de creación (1/2)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67" y="812763"/>
            <a:ext cx="10883460"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Nuestro script: de MySQL a PostgreSQL (2/2)</a:t>
            </a:r>
            <a:endParaRPr lang="en-US" sz="3200" dirty="0"/>
          </a:p>
        </p:txBody>
      </p:sp>
      <p:sp>
        <p:nvSpPr>
          <p:cNvPr id="3" name="Text 1"/>
          <p:cNvSpPr/>
          <p:nvPr/>
        </p:nvSpPr>
        <p:spPr>
          <a:xfrm>
            <a:off x="812767" y="1437512"/>
            <a:ext cx="3662680"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Public Sans" pitchFamily="34" charset="0"/>
                <a:ea typeface="Public Sans" pitchFamily="34" charset="-122"/>
                <a:cs typeface="Public Sans" pitchFamily="34" charset="-120"/>
              </a:rPr>
              <a:t>Tablas intermedias</a:t>
            </a:r>
            <a:r>
              <a:rPr lang="en-US" sz="1300" b="1" dirty="0">
                <a:solidFill>
                  <a:srgbClr val="14213D"/>
                </a:solidFill>
                <a:latin typeface="Public Sans" pitchFamily="34" charset="0"/>
                <a:ea typeface="Public Sans" pitchFamily="34" charset="-122"/>
                <a:cs typeface="Public Sans" pitchFamily="34" charset="-120"/>
              </a:rPr>
              <a:t> · iguales en los dos</a:t>
            </a:r>
            <a:endParaRPr lang="en-US" sz="1300" dirty="0"/>
          </a:p>
        </p:txBody>
      </p:sp>
      <p:sp>
        <p:nvSpPr>
          <p:cNvPr id="4" name="Shape 2"/>
          <p:cNvSpPr/>
          <p:nvPr/>
        </p:nvSpPr>
        <p:spPr>
          <a:xfrm>
            <a:off x="812767" y="1744762"/>
            <a:ext cx="3556000" cy="4064000"/>
          </a:xfrm>
          <a:prstGeom prst="roundRect">
            <a:avLst>
              <a:gd name="adj" fmla="val 2857"/>
            </a:avLst>
          </a:prstGeom>
          <a:solidFill>
            <a:srgbClr val="FFFFFF"/>
          </a:solidFill>
          <a:ln/>
        </p:spPr>
      </p:sp>
      <p:pic>
        <p:nvPicPr>
          <p:cNvPr id="5" name="Image 0" descr="Las 5 tablas intermedias con sus claves primarias compuestas y claves foráneas">    </p:cNvPr>
          <p:cNvPicPr>
            <a:picLocks noChangeAspect="1"/>
          </p:cNvPicPr>
          <p:nvPr/>
        </p:nvPicPr>
        <p:blipFill>
          <a:blip r:embed="rId1"/>
          <a:stretch>
            <a:fillRect/>
          </a:stretch>
        </p:blipFill>
        <p:spPr>
          <a:xfrm>
            <a:off x="1563460" y="1757462"/>
            <a:ext cx="2054614" cy="4038600"/>
          </a:xfrm>
          <a:prstGeom prst="rect">
            <a:avLst/>
          </a:prstGeom>
        </p:spPr>
      </p:pic>
      <p:sp>
        <p:nvSpPr>
          <p:cNvPr id="6" name="Shape 3"/>
          <p:cNvSpPr/>
          <p:nvPr/>
        </p:nvSpPr>
        <p:spPr>
          <a:xfrm>
            <a:off x="819117" y="1751112"/>
            <a:ext cx="3543300" cy="4051300"/>
          </a:xfrm>
          <a:prstGeom prst="roundRect">
            <a:avLst>
              <a:gd name="adj" fmla="val 2688"/>
            </a:avLst>
          </a:prstGeom>
          <a:noFill/>
          <a:ln w="12700">
            <a:solidFill>
              <a:srgbClr val="DCE2EC"/>
            </a:solidFill>
            <a:prstDash val="solid"/>
          </a:ln>
        </p:spPr>
      </p:sp>
      <p:sp>
        <p:nvSpPr>
          <p:cNvPr id="7" name="Text 4"/>
          <p:cNvSpPr/>
          <p:nvPr/>
        </p:nvSpPr>
        <p:spPr>
          <a:xfrm>
            <a:off x="4597301" y="2231262"/>
            <a:ext cx="6985390"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Public Sans" pitchFamily="34" charset="0"/>
                <a:ea typeface="Public Sans" pitchFamily="34" charset="-122"/>
                <a:cs typeface="Public Sans" pitchFamily="34" charset="-120"/>
              </a:rPr>
              <a:t>Final del script en PostgreSQL</a:t>
            </a:r>
            <a:r>
              <a:rPr lang="en-US" sz="1300" b="1" dirty="0">
                <a:solidFill>
                  <a:srgbClr val="14213D"/>
                </a:solidFill>
                <a:latin typeface="Public Sans" pitchFamily="34" charset="0"/>
                <a:ea typeface="Public Sans" pitchFamily="34" charset="-122"/>
                <a:cs typeface="Public Sans" pitchFamily="34" charset="-120"/>
              </a:rPr>
              <a:t> · </a:t>
            </a:r>
            <a:r>
              <a:rPr lang="en-US" sz="1300" b="1" dirty="0">
                <a:solidFill>
                  <a:srgbClr val="9A6B00"/>
                </a:solidFill>
                <a:latin typeface="Public Sans" pitchFamily="34" charset="0"/>
                <a:ea typeface="Public Sans" pitchFamily="34" charset="-122"/>
                <a:cs typeface="Public Sans" pitchFamily="34" charset="-120"/>
              </a:rPr>
              <a:t>en amarillo, lo que cambia</a:t>
            </a:r>
            <a:endParaRPr lang="en-US" sz="1300" dirty="0"/>
          </a:p>
        </p:txBody>
      </p:sp>
      <p:sp>
        <p:nvSpPr>
          <p:cNvPr id="8" name="Shape 5"/>
          <p:cNvSpPr/>
          <p:nvPr/>
        </p:nvSpPr>
        <p:spPr>
          <a:xfrm>
            <a:off x="4597301" y="2614743"/>
            <a:ext cx="6350000" cy="1206500"/>
          </a:xfrm>
          <a:prstGeom prst="roundRect">
            <a:avLst>
              <a:gd name="adj" fmla="val 8421"/>
            </a:avLst>
          </a:prstGeom>
          <a:solidFill>
            <a:srgbClr val="FFFFFF"/>
          </a:solidFill>
          <a:ln/>
        </p:spPr>
      </p:sp>
      <p:pic>
        <p:nvPicPr>
          <p:cNvPr id="9" name="Image 1" descr="Final del script: setval para ajustar los contadores, COMMIT y la consulta con EXTRACT(MONTH FROM ...)">    </p:cNvPr>
          <p:cNvPicPr>
            <a:picLocks noChangeAspect="1"/>
          </p:cNvPicPr>
          <p:nvPr/>
        </p:nvPicPr>
        <p:blipFill>
          <a:blip r:embed="rId2"/>
          <a:stretch>
            <a:fillRect/>
          </a:stretch>
        </p:blipFill>
        <p:spPr>
          <a:xfrm>
            <a:off x="6193290" y="2627443"/>
            <a:ext cx="3158021" cy="1181100"/>
          </a:xfrm>
          <a:prstGeom prst="rect">
            <a:avLst/>
          </a:prstGeom>
        </p:spPr>
      </p:pic>
      <p:sp>
        <p:nvSpPr>
          <p:cNvPr id="10" name="Shape 6"/>
          <p:cNvSpPr/>
          <p:nvPr/>
        </p:nvSpPr>
        <p:spPr>
          <a:xfrm>
            <a:off x="4603651" y="2621093"/>
            <a:ext cx="6337300" cy="1193800"/>
          </a:xfrm>
          <a:prstGeom prst="roundRect">
            <a:avLst>
              <a:gd name="adj" fmla="val 7979"/>
            </a:avLst>
          </a:prstGeom>
          <a:noFill/>
          <a:ln w="12700">
            <a:solidFill>
              <a:srgbClr val="DCE2EC"/>
            </a:solidFill>
            <a:prstDash val="solid"/>
          </a:ln>
        </p:spPr>
      </p:sp>
      <p:sp>
        <p:nvSpPr>
          <p:cNvPr id="11" name="Shape 7"/>
          <p:cNvSpPr/>
          <p:nvPr/>
        </p:nvSpPr>
        <p:spPr>
          <a:xfrm>
            <a:off x="4597301" y="3973624"/>
            <a:ext cx="3314733" cy="1041301"/>
          </a:xfrm>
          <a:prstGeom prst="roundRect">
            <a:avLst>
              <a:gd name="adj" fmla="val 12196"/>
            </a:avLst>
          </a:prstGeom>
          <a:solidFill>
            <a:srgbClr val="14213D"/>
          </a:solidFill>
          <a:ln/>
        </p:spPr>
      </p:sp>
      <p:sp>
        <p:nvSpPr>
          <p:cNvPr id="12" name="Text 8"/>
          <p:cNvSpPr/>
          <p:nvPr/>
        </p:nvSpPr>
        <p:spPr>
          <a:xfrm>
            <a:off x="4775067" y="4151393"/>
            <a:ext cx="3047975" cy="221026"/>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F2A65A"/>
                </a:solidFill>
                <a:latin typeface="Public Sans" pitchFamily="34" charset="0"/>
                <a:ea typeface="Public Sans" pitchFamily="34" charset="-122"/>
                <a:cs typeface="Public Sans" pitchFamily="34" charset="-120"/>
              </a:rPr>
              <a:t>SETVAL</a:t>
            </a:r>
            <a:endParaRPr lang="en-US" sz="1100" dirty="0"/>
          </a:p>
        </p:txBody>
      </p:sp>
      <p:sp>
        <p:nvSpPr>
          <p:cNvPr id="13" name="Text 9"/>
          <p:cNvSpPr/>
          <p:nvPr/>
        </p:nvSpPr>
        <p:spPr>
          <a:xfrm>
            <a:off x="4775067" y="4410521"/>
            <a:ext cx="30479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5F0"/>
                </a:solidFill>
                <a:latin typeface="Public Sans" pitchFamily="34" charset="0"/>
                <a:ea typeface="Public Sans" pitchFamily="34" charset="-122"/>
                <a:cs typeface="Public Sans" pitchFamily="34" charset="-120"/>
              </a:rPr>
              <a:t>Como metimos los id a mano, ajusta el contador para que el siguiente sea el 63.</a:t>
            </a:r>
            <a:endParaRPr lang="en-US" sz="1200" dirty="0"/>
          </a:p>
        </p:txBody>
      </p:sp>
      <p:sp>
        <p:nvSpPr>
          <p:cNvPr id="14" name="Shape 10"/>
          <p:cNvSpPr/>
          <p:nvPr/>
        </p:nvSpPr>
        <p:spPr>
          <a:xfrm>
            <a:off x="8064417" y="3973624"/>
            <a:ext cx="3314815" cy="1041301"/>
          </a:xfrm>
          <a:prstGeom prst="roundRect">
            <a:avLst>
              <a:gd name="adj" fmla="val 12196"/>
            </a:avLst>
          </a:prstGeom>
          <a:solidFill>
            <a:srgbClr val="14213D"/>
          </a:solidFill>
          <a:ln/>
        </p:spPr>
      </p:sp>
      <p:sp>
        <p:nvSpPr>
          <p:cNvPr id="15" name="Text 11"/>
          <p:cNvSpPr/>
          <p:nvPr/>
        </p:nvSpPr>
        <p:spPr>
          <a:xfrm>
            <a:off x="8242184" y="4151393"/>
            <a:ext cx="3048060" cy="221026"/>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F2A65A"/>
                </a:solidFill>
                <a:latin typeface="Public Sans" pitchFamily="34" charset="0"/>
                <a:ea typeface="Public Sans" pitchFamily="34" charset="-122"/>
                <a:cs typeface="Public Sans" pitchFamily="34" charset="-120"/>
              </a:rPr>
              <a:t>EXTRACT</a:t>
            </a:r>
            <a:endParaRPr lang="en-US" sz="1100" dirty="0"/>
          </a:p>
        </p:txBody>
      </p:sp>
      <p:sp>
        <p:nvSpPr>
          <p:cNvPr id="16" name="Text 12"/>
          <p:cNvSpPr/>
          <p:nvPr/>
        </p:nvSpPr>
        <p:spPr>
          <a:xfrm>
            <a:off x="8242184" y="4410521"/>
            <a:ext cx="30480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5F0"/>
                </a:solidFill>
                <a:latin typeface="Public Sans" pitchFamily="34" charset="0"/>
                <a:ea typeface="Public Sans" pitchFamily="34" charset="-122"/>
                <a:cs typeface="Public Sans" pitchFamily="34" charset="-120"/>
              </a:rPr>
              <a:t>MesPromoción no se guarda: se calcula. En MySQL era MONTH(fecha).</a:t>
            </a:r>
            <a:endParaRPr lang="en-US" sz="1200" dirty="0"/>
          </a:p>
        </p:txBody>
      </p:sp>
      <p:sp>
        <p:nvSpPr>
          <p:cNvPr id="17" name="Text 13"/>
          <p:cNvSpPr/>
          <p:nvPr/>
        </p:nvSpPr>
        <p:spPr>
          <a:xfrm>
            <a:off x="812767" y="6238292"/>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5 · Script de creación (2/2)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767" y="6238292"/>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5</a:t>
            </a:r>
            <a:endParaRPr lang="en-US" sz="1200" dirty="0"/>
          </a:p>
        </p:txBody>
      </p:sp>
      <p:sp>
        <p:nvSpPr>
          <p:cNvPr id="3" name="Text 1"/>
          <p:cNvSpPr/>
          <p:nvPr/>
        </p:nvSpPr>
        <p:spPr>
          <a:xfrm>
            <a:off x="10058433" y="6238292"/>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15</a:t>
            </a:r>
            <a:endParaRPr lang="en-US" sz="1200" dirty="0"/>
          </a:p>
        </p:txBody>
      </p:sp>
      <p:sp>
        <p:nvSpPr>
          <p:cNvPr id="4" name="Text 2"/>
          <p:cNvSpPr/>
          <p:nvPr>
            <p:ph type="title"/>
          </p:nvPr>
        </p:nvSpPr>
        <p:spPr>
          <a:xfrm>
            <a:off x="812767" y="812763"/>
            <a:ext cx="10889933" cy="1031313"/>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El esquema ya creado, visto en dos herramientas</a:t>
            </a:r>
            <a:endParaRPr lang="en-US" sz="3600" dirty="0"/>
          </a:p>
        </p:txBody>
      </p:sp>
      <p:sp>
        <p:nvSpPr>
          <p:cNvPr id="5" name="Shape 3"/>
          <p:cNvSpPr/>
          <p:nvPr/>
        </p:nvSpPr>
        <p:spPr>
          <a:xfrm>
            <a:off x="6223000" y="1981150"/>
            <a:ext cx="5156150" cy="3683000"/>
          </a:xfrm>
          <a:prstGeom prst="roundRect">
            <a:avLst>
              <a:gd name="adj" fmla="val 2759"/>
            </a:avLst>
          </a:prstGeom>
          <a:solidFill>
            <a:srgbClr val="FFFFFF"/>
          </a:solidFill>
          <a:ln/>
        </p:spPr>
      </p:sp>
      <p:pic>
        <p:nvPicPr>
          <p:cNvPr id="6" name="Image 0" descr="Ingeniería inversa del esquema en MySQL Workbench con las 10 tablas">    </p:cNvPr>
          <p:cNvPicPr>
            <a:picLocks noChangeAspect="1"/>
          </p:cNvPicPr>
          <p:nvPr/>
        </p:nvPicPr>
        <p:blipFill>
          <a:blip r:embed="rId1"/>
          <a:stretch>
            <a:fillRect/>
          </a:stretch>
        </p:blipFill>
        <p:spPr>
          <a:xfrm>
            <a:off x="6969903" y="1993850"/>
            <a:ext cx="3662344" cy="3657600"/>
          </a:xfrm>
          <a:prstGeom prst="rect">
            <a:avLst/>
          </a:prstGeom>
        </p:spPr>
      </p:pic>
      <p:sp>
        <p:nvSpPr>
          <p:cNvPr id="7" name="Shape 4"/>
          <p:cNvSpPr/>
          <p:nvPr/>
        </p:nvSpPr>
        <p:spPr>
          <a:xfrm>
            <a:off x="6229350" y="1987500"/>
            <a:ext cx="5143450" cy="3670300"/>
          </a:xfrm>
          <a:prstGeom prst="roundRect">
            <a:avLst>
              <a:gd name="adj" fmla="val 2595"/>
            </a:avLst>
          </a:prstGeom>
          <a:noFill/>
          <a:ln w="12700">
            <a:solidFill>
              <a:srgbClr val="DCE2EC"/>
            </a:solidFill>
            <a:prstDash val="solid"/>
          </a:ln>
        </p:spPr>
      </p:sp>
      <p:sp>
        <p:nvSpPr>
          <p:cNvPr id="8" name="Text 5"/>
          <p:cNvSpPr/>
          <p:nvPr/>
        </p:nvSpPr>
        <p:spPr>
          <a:xfrm>
            <a:off x="6223000" y="5765682"/>
            <a:ext cx="5317392"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MySQL Workbench</a:t>
            </a:r>
            <a:r>
              <a:rPr lang="en-US" sz="1300" dirty="0">
                <a:solidFill>
                  <a:srgbClr val="3E4A5E"/>
                </a:solidFill>
                <a:latin typeface="Public Sans" pitchFamily="34" charset="0"/>
                <a:ea typeface="Public Sans" pitchFamily="34" charset="-122"/>
                <a:cs typeface="Public Sans" pitchFamily="34" charset="-120"/>
              </a:rPr>
              <a:t> · Ingeniería inversa: más clara</a:t>
            </a:r>
            <a:endParaRPr lang="en-US" sz="1300" dirty="0"/>
          </a:p>
        </p:txBody>
      </p:sp>
      <p:pic>
        <p:nvPicPr>
          <p:cNvPr id="9" name="Image 1" descr="image.png">    </p:cNvPr>
          <p:cNvPicPr>
            <a:picLocks noChangeAspect="1"/>
          </p:cNvPicPr>
          <p:nvPr/>
        </p:nvPicPr>
        <p:blipFill>
          <a:blip r:embed="rId2"/>
          <a:srcRect l="0" r="0" t="1139" b="1139"/>
          <a:stretch/>
        </p:blipFill>
        <p:spPr>
          <a:xfrm>
            <a:off x="812767" y="2071105"/>
            <a:ext cx="5410233" cy="3429496"/>
          </a:xfrm>
          <a:prstGeom prst="rect">
            <a:avLst/>
          </a:prstGeom>
        </p:spPr>
      </p:pic>
      <p:sp>
        <p:nvSpPr>
          <p:cNvPr id="10" name="Text 6"/>
          <p:cNvSpPr/>
          <p:nvPr/>
        </p:nvSpPr>
        <p:spPr>
          <a:xfrm>
            <a:off x="812767" y="5814132"/>
            <a:ext cx="5317392"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Supabase</a:t>
            </a:r>
            <a:r>
              <a:rPr lang="en-US" sz="1300" dirty="0">
                <a:solidFill>
                  <a:srgbClr val="3E4A5E"/>
                </a:solidFill>
                <a:latin typeface="Public Sans" pitchFamily="34" charset="0"/>
                <a:ea typeface="Public Sans" pitchFamily="34" charset="-122"/>
                <a:cs typeface="Public Sans" pitchFamily="34" charset="-120"/>
              </a:rPr>
              <a:t> · Schema Visualizer (esquema v2)</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67" y="812763"/>
            <a:ext cx="10883460" cy="52835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¿Se han cargado todos los datos?</a:t>
            </a:r>
            <a:endParaRPr lang="en-US" sz="3600" dirty="0"/>
          </a:p>
        </p:txBody>
      </p:sp>
      <p:sp>
        <p:nvSpPr>
          <p:cNvPr id="3" name="Shape 1"/>
          <p:cNvSpPr/>
          <p:nvPr/>
        </p:nvSpPr>
        <p:spPr>
          <a:xfrm>
            <a:off x="812767" y="1518865"/>
            <a:ext cx="4191000" cy="4191000"/>
          </a:xfrm>
          <a:prstGeom prst="roundRect">
            <a:avLst>
              <a:gd name="adj" fmla="val 2424"/>
            </a:avLst>
          </a:prstGeom>
          <a:solidFill>
            <a:srgbClr val="FFFFFF"/>
          </a:solidFill>
          <a:ln/>
        </p:spPr>
      </p:sp>
      <p:pic>
        <p:nvPicPr>
          <p:cNvPr id="4" name="Image 0" descr="Consulta de recuento de filas del esquema v2 ejecutada en el SQL Editor de Supabase">    </p:cNvPr>
          <p:cNvPicPr>
            <a:picLocks noChangeAspect="1"/>
          </p:cNvPicPr>
          <p:nvPr/>
        </p:nvPicPr>
        <p:blipFill>
          <a:blip r:embed="rId1"/>
          <a:stretch>
            <a:fillRect/>
          </a:stretch>
        </p:blipFill>
        <p:spPr>
          <a:xfrm>
            <a:off x="972034" y="1531565"/>
            <a:ext cx="3872465" cy="4165600"/>
          </a:xfrm>
          <a:prstGeom prst="rect">
            <a:avLst/>
          </a:prstGeom>
        </p:spPr>
      </p:pic>
      <p:sp>
        <p:nvSpPr>
          <p:cNvPr id="5" name="Shape 2"/>
          <p:cNvSpPr/>
          <p:nvPr/>
        </p:nvSpPr>
        <p:spPr>
          <a:xfrm>
            <a:off x="819117" y="1525215"/>
            <a:ext cx="4178300" cy="4178300"/>
          </a:xfrm>
          <a:prstGeom prst="roundRect">
            <a:avLst>
              <a:gd name="adj" fmla="val 2280"/>
            </a:avLst>
          </a:prstGeom>
          <a:noFill/>
          <a:ln w="12700">
            <a:solidFill>
              <a:srgbClr val="DCE2EC"/>
            </a:solidFill>
            <a:prstDash val="solid"/>
          </a:ln>
        </p:spPr>
      </p:sp>
      <p:sp>
        <p:nvSpPr>
          <p:cNvPr id="6" name="Text 3"/>
          <p:cNvSpPr/>
          <p:nvPr/>
        </p:nvSpPr>
        <p:spPr>
          <a:xfrm>
            <a:off x="5359301" y="1756742"/>
            <a:ext cx="6200530"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2F6FEB"/>
                </a:solidFill>
                <a:latin typeface="Space Grotesk" pitchFamily="34" charset="0"/>
                <a:ea typeface="Space Grotesk" pitchFamily="34" charset="-122"/>
                <a:cs typeface="Space Grotesk" pitchFamily="34" charset="-120"/>
              </a:rPr>
              <a:t>500</a:t>
            </a:r>
            <a:endParaRPr lang="en-US" sz="8000" dirty="0"/>
          </a:p>
        </p:txBody>
      </p:sp>
      <p:sp>
        <p:nvSpPr>
          <p:cNvPr id="7" name="Text 4"/>
          <p:cNvSpPr/>
          <p:nvPr/>
        </p:nvSpPr>
        <p:spPr>
          <a:xfrm>
            <a:off x="5359301" y="2925130"/>
            <a:ext cx="6200530" cy="345463"/>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13D"/>
                </a:solidFill>
                <a:latin typeface="Public Sans" pitchFamily="34" charset="0"/>
                <a:ea typeface="Public Sans" pitchFamily="34" charset="-122"/>
                <a:cs typeface="Public Sans" pitchFamily="34" charset="-120"/>
              </a:rPr>
              <a:t>filas repartidas en 10 tablas</a:t>
            </a:r>
            <a:endParaRPr lang="en-US" sz="1800" dirty="0"/>
          </a:p>
        </p:txBody>
      </p:sp>
      <p:sp>
        <p:nvSpPr>
          <p:cNvPr id="8" name="Shape 5"/>
          <p:cNvSpPr/>
          <p:nvPr/>
        </p:nvSpPr>
        <p:spPr>
          <a:xfrm>
            <a:off x="5359301" y="3397572"/>
            <a:ext cx="6019932" cy="2074333"/>
          </a:xfrm>
          <a:prstGeom prst="rect">
            <a:avLst/>
          </a:prstGeom>
          <a:solidFill>
            <a:srgbClr val="FFFFFF"/>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369884" y="3408156"/>
          <a:ext cx="6009349" cy="2063750"/>
        </p:xfrm>
        <a:graphic>
          <a:graphicData uri="http://schemas.openxmlformats.org/drawingml/2006/table">
            <a:tbl>
              <a:tblPr/>
              <a:tblGrid>
                <a:gridCol w="3966170"/>
                <a:gridCol w="2043179"/>
              </a:tblGrid>
              <a:tr h="343958">
                <a:tc>
                  <a:txBody>
                    <a:bodyPr/>
                    <a:lstStyle/>
                    <a:p>
                      <a:pPr indent="0" marL="0">
                        <a:lnSpc>
                          <a:spcPts val="1750"/>
                        </a:lnSpc>
                        <a:buNone/>
                      </a:pPr>
                      <a:r>
                        <a:rPr lang="en-US" sz="1250" b="1" dirty="0">
                          <a:solidFill>
                            <a:srgbClr val="14213D"/>
                          </a:solidFill>
                          <a:latin typeface="Public Sans" pitchFamily="34" charset="0"/>
                          <a:ea typeface="Public Sans" pitchFamily="34" charset="-122"/>
                          <a:cs typeface="Public Sans" pitchFamily="34" charset="-120"/>
                        </a:rPr>
                        <a:t>Tabla</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750"/>
                        </a:lnSpc>
                        <a:buNone/>
                      </a:pPr>
                      <a:r>
                        <a:rPr lang="en-US" sz="1250" b="1" dirty="0">
                          <a:solidFill>
                            <a:srgbClr val="14213D"/>
                          </a:solidFill>
                          <a:latin typeface="Public Sans" pitchFamily="34" charset="0"/>
                          <a:ea typeface="Public Sans" pitchFamily="34" charset="-122"/>
                          <a:cs typeface="Public Sans" pitchFamily="34" charset="-120"/>
                        </a:rPr>
                        <a:t>Filas</a:t>
                      </a:r>
                      <a:endParaRPr lang="en-US" sz="1250" dirty="0">
                        <a:latin typeface="Public Sans" charset="0"/>
                        <a:ea typeface="Public Sans" charset="0"/>
                        <a:cs typeface="Public Sans" charset="0"/>
                      </a:endParaRPr>
                    </a:p>
                  </a:txBody>
                  <a:tcPr marL="55563" marR="55563" marT="55563" marB="55563"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43958">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persona = alumnos + profesor</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62 = 52 + 10</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958">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alumnoProyecto (notas)</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260</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958">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alumnosPromocion · profesorPromocion</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52 · 10</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958">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promocionProyecto · profesorProyecto</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20 · 18</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3958">
                <a:tc>
                  <a:txBody>
                    <a:bodyPr/>
                    <a:lstStyle/>
                    <a:p>
                      <a:pP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proyecto · promocion</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750"/>
                        </a:lnSpc>
                        <a:buNone/>
                      </a:pPr>
                      <a:r>
                        <a:rPr lang="en-US" sz="1250" dirty="0">
                          <a:solidFill>
                            <a:srgbClr val="14213D"/>
                          </a:solidFill>
                          <a:latin typeface="Public Sans" pitchFamily="34" charset="0"/>
                          <a:ea typeface="Public Sans" pitchFamily="34" charset="-122"/>
                          <a:cs typeface="Public Sans" pitchFamily="34" charset="-120"/>
                        </a:rPr>
                        <a:t>10 · 6</a:t>
                      </a:r>
                      <a:endParaRPr lang="en-US" sz="1250" dirty="0">
                        <a:latin typeface="Public Sans" charset="0"/>
                        <a:ea typeface="Public Sans" charset="0"/>
                        <a:cs typeface="Public Sans"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0" name="Text 6"/>
          <p:cNvSpPr/>
          <p:nvPr/>
        </p:nvSpPr>
        <p:spPr>
          <a:xfrm>
            <a:off x="812767" y="6238292"/>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5 ·  Captura de Supabase</a:t>
            </a:r>
            <a:endParaRPr lang="en-US" sz="1200" dirty="0"/>
          </a:p>
        </p:txBody>
      </p:sp>
      <p:sp>
        <p:nvSpPr>
          <p:cNvPr id="11" name="Text 7"/>
          <p:cNvSpPr/>
          <p:nvPr/>
        </p:nvSpPr>
        <p:spPr>
          <a:xfrm>
            <a:off x="10058433" y="6238292"/>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767" y="6238292"/>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6 · Investigación del equipo de Data Science · 1 de 3</a:t>
            </a:r>
            <a:endParaRPr lang="en-US" sz="1200" dirty="0"/>
          </a:p>
        </p:txBody>
      </p:sp>
      <p:sp>
        <p:nvSpPr>
          <p:cNvPr id="3" name="Text 1"/>
          <p:cNvSpPr/>
          <p:nvPr>
            <p:ph type="title"/>
          </p:nvPr>
        </p:nvSpPr>
        <p:spPr>
          <a:xfrm>
            <a:off x="812767" y="812763"/>
            <a:ext cx="10883374"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Otra forma de cargar los CSV: con Python</a:t>
            </a:r>
            <a:endParaRPr lang="en-US" sz="3200" dirty="0"/>
          </a:p>
        </p:txBody>
      </p:sp>
      <p:sp>
        <p:nvSpPr>
          <p:cNvPr id="4" name="Text 2"/>
          <p:cNvSpPr/>
          <p:nvPr/>
        </p:nvSpPr>
        <p:spPr>
          <a:xfrm>
            <a:off x="812767" y="1436353"/>
            <a:ext cx="598372" cy="365621"/>
          </a:xfrm>
          <a:prstGeom prst="roundRect">
            <a:avLst>
              <a:gd name="adj" fmla="val 20841"/>
            </a:avLst>
          </a:prstGeom>
          <a:solidFill>
            <a:srgbClr val="14213D"/>
          </a:solidFill>
          <a:ln/>
        </p:spPr>
        <p:txBody>
          <a:bodyPr wrap="none" lIns="0" tIns="0" rIns="0" bIns="0" rtlCol="0" anchor="ctr">
            <a:normAutofit/>
          </a:bodyPr>
          <a:lstStyle/>
          <a:p>
            <a:pPr algn="ctr" indent="0" marL="0">
              <a:lnSpc>
                <a:spcPts val="1680"/>
              </a:lnSpc>
              <a:buNone/>
            </a:pPr>
            <a:r>
              <a:rPr lang="en-US" sz="1200" b="1" dirty="0">
                <a:solidFill>
                  <a:srgbClr val="F6F5F0"/>
                </a:solidFill>
                <a:latin typeface="Public Sans" pitchFamily="34" charset="0"/>
                <a:ea typeface="Public Sans" pitchFamily="34" charset="-122"/>
                <a:cs typeface="Public Sans" pitchFamily="34" charset="-120"/>
              </a:rPr>
              <a:t>CSV</a:t>
            </a:r>
            <a:endParaRPr lang="en-US" sz="1200" dirty="0"/>
          </a:p>
        </p:txBody>
      </p:sp>
      <p:pic>
        <p:nvPicPr>
          <p:cNvPr id="5" name="Image 0" descr="arrow-right">    </p:cNvPr>
          <p:cNvPicPr>
            <a:picLocks noChangeAspect="1"/>
          </p:cNvPicPr>
          <p:nvPr/>
        </p:nvPicPr>
        <p:blipFill>
          <a:blip r:embed="rId1"/>
          <a:srcRect l="-3" r="-3" t="0" b="0"/>
          <a:stretch/>
        </p:blipFill>
        <p:spPr>
          <a:xfrm>
            <a:off x="1500022" y="1542926"/>
            <a:ext cx="279383" cy="152383"/>
          </a:xfrm>
          <a:prstGeom prst="rect">
            <a:avLst/>
          </a:prstGeom>
        </p:spPr>
      </p:pic>
      <p:sp>
        <p:nvSpPr>
          <p:cNvPr id="6" name="Text 3"/>
          <p:cNvSpPr/>
          <p:nvPr/>
        </p:nvSpPr>
        <p:spPr>
          <a:xfrm>
            <a:off x="1874639" y="1444774"/>
            <a:ext cx="1303602" cy="348787"/>
          </a:xfrm>
          <a:prstGeom prst="roundRect">
            <a:avLst>
              <a:gd name="adj" fmla="val 20027"/>
            </a:avLst>
          </a:prstGeom>
          <a:solidFill>
            <a:srgbClr val="FFFFFF"/>
          </a:solidFill>
          <a:ln w="12700">
            <a:solidFill>
              <a:srgbClr val="2F6FEB"/>
            </a:solidFill>
            <a:prstDash val="solid"/>
          </a:ln>
        </p:spPr>
        <p:txBody>
          <a:bodyPr wrap="none" lIns="0" tIns="0" rIns="0" bIns="0" rtlCol="0" anchor="ctr">
            <a:normAutofit/>
          </a:bodyPr>
          <a:lstStyle/>
          <a:p>
            <a:pPr algn="ctr" indent="0" marL="0">
              <a:lnSpc>
                <a:spcPts val="1680"/>
              </a:lnSpc>
              <a:buNone/>
            </a:pPr>
            <a:r>
              <a:rPr lang="en-US" sz="1200" b="1" dirty="0">
                <a:solidFill>
                  <a:srgbClr val="14213D"/>
                </a:solidFill>
                <a:latin typeface="Public Sans" pitchFamily="34" charset="0"/>
                <a:ea typeface="Public Sans" pitchFamily="34" charset="-122"/>
                <a:cs typeface="Public Sans" pitchFamily="34" charset="-120"/>
              </a:rPr>
              <a:t>1</a:t>
            </a:r>
            <a:r>
              <a:rPr lang="en-US" sz="1200" dirty="0">
                <a:solidFill>
                  <a:srgbClr val="14213D"/>
                </a:solidFill>
                <a:latin typeface="Public Sans" pitchFamily="34" charset="0"/>
                <a:ea typeface="Public Sans" pitchFamily="34" charset="-122"/>
                <a:cs typeface="Public Sans" pitchFamily="34" charset="-120"/>
              </a:rPr>
              <a:t> Leer · pandas</a:t>
            </a:r>
            <a:endParaRPr lang="en-US" sz="1200" dirty="0"/>
          </a:p>
        </p:txBody>
      </p:sp>
      <p:pic>
        <p:nvPicPr>
          <p:cNvPr id="7" name="Image 1" descr="arrow-right">    </p:cNvPr>
          <p:cNvPicPr>
            <a:picLocks noChangeAspect="1"/>
          </p:cNvPicPr>
          <p:nvPr/>
        </p:nvPicPr>
        <p:blipFill>
          <a:blip r:embed="rId2"/>
          <a:srcRect l="-3" r="-3" t="0" b="0"/>
          <a:stretch/>
        </p:blipFill>
        <p:spPr>
          <a:xfrm>
            <a:off x="3273475" y="1542926"/>
            <a:ext cx="279383" cy="152383"/>
          </a:xfrm>
          <a:prstGeom prst="rect">
            <a:avLst/>
          </a:prstGeom>
        </p:spPr>
      </p:pic>
      <p:sp>
        <p:nvSpPr>
          <p:cNvPr id="8" name="Text 4"/>
          <p:cNvSpPr/>
          <p:nvPr/>
        </p:nvSpPr>
        <p:spPr>
          <a:xfrm>
            <a:off x="3648091" y="1444774"/>
            <a:ext cx="1611511" cy="348787"/>
          </a:xfrm>
          <a:prstGeom prst="roundRect">
            <a:avLst>
              <a:gd name="adj" fmla="val 20027"/>
            </a:avLst>
          </a:prstGeom>
          <a:solidFill>
            <a:srgbClr val="FFFFFF"/>
          </a:solidFill>
          <a:ln w="12700">
            <a:solidFill>
              <a:srgbClr val="DCE2EC"/>
            </a:solidFill>
            <a:prstDash val="solid"/>
          </a:ln>
        </p:spPr>
        <p:txBody>
          <a:bodyPr wrap="none" lIns="0" tIns="0" rIns="0" bIns="0" rtlCol="0" anchor="ctr">
            <a:normAutofit/>
          </a:bodyPr>
          <a:lstStyle/>
          <a:p>
            <a:pPr algn="ctr" indent="0" marL="0">
              <a:lnSpc>
                <a:spcPts val="1680"/>
              </a:lnSpc>
              <a:buNone/>
            </a:pPr>
            <a:r>
              <a:rPr lang="en-US" sz="1200" b="1" dirty="0">
                <a:solidFill>
                  <a:srgbClr val="14213D"/>
                </a:solidFill>
                <a:latin typeface="Public Sans" pitchFamily="34" charset="0"/>
                <a:ea typeface="Public Sans" pitchFamily="34" charset="-122"/>
                <a:cs typeface="Public Sans" pitchFamily="34" charset="-120"/>
              </a:rPr>
              <a:t>2</a:t>
            </a:r>
            <a:r>
              <a:rPr lang="en-US" sz="1200" dirty="0">
                <a:solidFill>
                  <a:srgbClr val="14213D"/>
                </a:solidFill>
                <a:latin typeface="Public Sans" pitchFamily="34" charset="0"/>
                <a:ea typeface="Public Sans" pitchFamily="34" charset="-122"/>
                <a:cs typeface="Public Sans" pitchFamily="34" charset="-120"/>
              </a:rPr>
              <a:t> Unir y crear tabla</a:t>
            </a:r>
            <a:endParaRPr lang="en-US" sz="1200" dirty="0"/>
          </a:p>
        </p:txBody>
      </p:sp>
      <p:pic>
        <p:nvPicPr>
          <p:cNvPr id="9" name="Image 2" descr="arrow-right">    </p:cNvPr>
          <p:cNvPicPr>
            <a:picLocks noChangeAspect="1"/>
          </p:cNvPicPr>
          <p:nvPr/>
        </p:nvPicPr>
        <p:blipFill>
          <a:blip r:embed="rId3"/>
          <a:srcRect l="-3" r="-3" t="0" b="0"/>
          <a:stretch/>
        </p:blipFill>
        <p:spPr>
          <a:xfrm>
            <a:off x="5354836" y="1542926"/>
            <a:ext cx="279383" cy="152383"/>
          </a:xfrm>
          <a:prstGeom prst="rect">
            <a:avLst/>
          </a:prstGeom>
        </p:spPr>
      </p:pic>
      <p:sp>
        <p:nvSpPr>
          <p:cNvPr id="10" name="Text 5"/>
          <p:cNvSpPr/>
          <p:nvPr/>
        </p:nvSpPr>
        <p:spPr>
          <a:xfrm>
            <a:off x="5729453" y="1444774"/>
            <a:ext cx="1876094" cy="348787"/>
          </a:xfrm>
          <a:prstGeom prst="roundRect">
            <a:avLst>
              <a:gd name="adj" fmla="val 20027"/>
            </a:avLst>
          </a:prstGeom>
          <a:solidFill>
            <a:srgbClr val="FFFFFF"/>
          </a:solidFill>
          <a:ln w="12700">
            <a:solidFill>
              <a:srgbClr val="DCE2EC"/>
            </a:solidFill>
            <a:prstDash val="solid"/>
          </a:ln>
        </p:spPr>
        <p:txBody>
          <a:bodyPr wrap="none" lIns="0" tIns="0" rIns="0" bIns="0" rtlCol="0" anchor="ctr">
            <a:normAutofit/>
          </a:bodyPr>
          <a:lstStyle/>
          <a:p>
            <a:pPr algn="ctr" indent="0" marL="0">
              <a:lnSpc>
                <a:spcPts val="1680"/>
              </a:lnSpc>
              <a:buNone/>
            </a:pPr>
            <a:r>
              <a:rPr lang="en-US" sz="1200" b="1" dirty="0">
                <a:solidFill>
                  <a:srgbClr val="14213D"/>
                </a:solidFill>
                <a:latin typeface="Public Sans" pitchFamily="34" charset="0"/>
                <a:ea typeface="Public Sans" pitchFamily="34" charset="-122"/>
                <a:cs typeface="Public Sans" pitchFamily="34" charset="-120"/>
              </a:rPr>
              <a:t>3</a:t>
            </a:r>
            <a:r>
              <a:rPr lang="en-US" sz="1200" dirty="0">
                <a:solidFill>
                  <a:srgbClr val="14213D"/>
                </a:solidFill>
                <a:latin typeface="Public Sans" pitchFamily="34" charset="0"/>
                <a:ea typeface="Public Sans" pitchFamily="34" charset="-122"/>
                <a:cs typeface="Public Sans" pitchFamily="34" charset="-120"/>
              </a:rPr>
              <a:t> Insertar y comprobar</a:t>
            </a:r>
            <a:endParaRPr lang="en-US" sz="1200" dirty="0"/>
          </a:p>
        </p:txBody>
      </p:sp>
      <p:pic>
        <p:nvPicPr>
          <p:cNvPr id="11" name="Image 3" descr="arrow-right">    </p:cNvPr>
          <p:cNvPicPr>
            <a:picLocks noChangeAspect="1"/>
          </p:cNvPicPr>
          <p:nvPr/>
        </p:nvPicPr>
        <p:blipFill>
          <a:blip r:embed="rId4"/>
          <a:srcRect l="-3" r="-3" t="0" b="0"/>
          <a:stretch/>
        </p:blipFill>
        <p:spPr>
          <a:xfrm>
            <a:off x="7700780" y="1542926"/>
            <a:ext cx="279383" cy="152383"/>
          </a:xfrm>
          <a:prstGeom prst="rect">
            <a:avLst/>
          </a:prstGeom>
        </p:spPr>
      </p:pic>
      <p:sp>
        <p:nvSpPr>
          <p:cNvPr id="12" name="Text 6"/>
          <p:cNvSpPr/>
          <p:nvPr/>
        </p:nvSpPr>
        <p:spPr>
          <a:xfrm>
            <a:off x="8069047" y="1436353"/>
            <a:ext cx="1527059" cy="365621"/>
          </a:xfrm>
          <a:prstGeom prst="roundRect">
            <a:avLst>
              <a:gd name="adj" fmla="val 20841"/>
            </a:avLst>
          </a:prstGeom>
          <a:solidFill>
            <a:srgbClr val="14213D"/>
          </a:solidFill>
          <a:ln/>
        </p:spPr>
        <p:txBody>
          <a:bodyPr wrap="none" lIns="0" tIns="0" rIns="0" bIns="0" rtlCol="0" anchor="ctr">
            <a:normAutofit/>
          </a:bodyPr>
          <a:lstStyle/>
          <a:p>
            <a:pPr algn="ctr" indent="0" marL="0">
              <a:lnSpc>
                <a:spcPts val="1680"/>
              </a:lnSpc>
              <a:buNone/>
            </a:pPr>
            <a:r>
              <a:rPr lang="en-US" sz="1200" b="1" dirty="0">
                <a:solidFill>
                  <a:srgbClr val="F6F5F0"/>
                </a:solidFill>
                <a:latin typeface="Public Sans" pitchFamily="34" charset="0"/>
                <a:ea typeface="Public Sans" pitchFamily="34" charset="-122"/>
                <a:cs typeface="Public Sans" pitchFamily="34" charset="-120"/>
              </a:rPr>
              <a:t>Tabla en la BBDD</a:t>
            </a:r>
            <a:endParaRPr lang="en-US" sz="1200" dirty="0"/>
          </a:p>
        </p:txBody>
      </p:sp>
      <p:sp>
        <p:nvSpPr>
          <p:cNvPr id="13" name="Shape 7"/>
          <p:cNvSpPr/>
          <p:nvPr/>
        </p:nvSpPr>
        <p:spPr>
          <a:xfrm>
            <a:off x="819117" y="1987500"/>
            <a:ext cx="3416300" cy="1090282"/>
          </a:xfrm>
          <a:prstGeom prst="roundRect">
            <a:avLst>
              <a:gd name="adj" fmla="val 11066"/>
            </a:avLst>
          </a:prstGeom>
          <a:solidFill>
            <a:srgbClr val="FFFFFF"/>
          </a:solidFill>
          <a:ln w="12700">
            <a:solidFill>
              <a:srgbClr val="DCE2EC"/>
            </a:solidFill>
            <a:prstDash val="solid"/>
          </a:ln>
        </p:spPr>
      </p:sp>
      <p:sp>
        <p:nvSpPr>
          <p:cNvPr id="14" name="Text 8"/>
          <p:cNvSpPr/>
          <p:nvPr/>
        </p:nvSpPr>
        <p:spPr>
          <a:xfrm>
            <a:off x="1001117" y="2169492"/>
            <a:ext cx="314386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Public Sans" pitchFamily="34" charset="0"/>
                <a:ea typeface="Public Sans" pitchFamily="34" charset="-122"/>
                <a:cs typeface="Public Sans" pitchFamily="34" charset="-120"/>
              </a:rPr>
              <a:t>LO QUE USAMOS</a:t>
            </a:r>
            <a:endParaRPr lang="en-US" sz="1200" dirty="0"/>
          </a:p>
        </p:txBody>
      </p:sp>
      <p:sp>
        <p:nvSpPr>
          <p:cNvPr id="15" name="Text 9"/>
          <p:cNvSpPr/>
          <p:nvPr/>
        </p:nvSpPr>
        <p:spPr>
          <a:xfrm>
            <a:off x="1001117" y="2433588"/>
            <a:ext cx="3143868"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Public Sans" pitchFamily="34" charset="0"/>
                <a:ea typeface="Public Sans" pitchFamily="34" charset="-122"/>
                <a:cs typeface="Public Sans" pitchFamily="34" charset="-120"/>
              </a:rPr>
              <a:t>Un script SQL con los </a:t>
            </a:r>
            <a:r>
              <a:rPr lang="en-US" sz="1300" b="1" dirty="0">
                <a:solidFill>
                  <a:srgbClr val="14213D"/>
                </a:solidFill>
                <a:latin typeface="Public Sans" pitchFamily="34" charset="0"/>
                <a:ea typeface="Public Sans" pitchFamily="34" charset="-122"/>
                <a:cs typeface="Public Sans" pitchFamily="34" charset="-120"/>
              </a:rPr>
              <a:t>INSERT</a:t>
            </a:r>
            <a:r>
              <a:rPr lang="en-US" sz="1300" dirty="0">
                <a:solidFill>
                  <a:srgbClr val="3E4A5E"/>
                </a:solidFill>
                <a:latin typeface="Public Sans" pitchFamily="34" charset="0"/>
                <a:ea typeface="Public Sans" pitchFamily="34" charset="-122"/>
                <a:cs typeface="Public Sans" pitchFamily="34" charset="-120"/>
              </a:rPr>
              <a:t> ya escritos a partir de los CSV</a:t>
            </a:r>
            <a:endParaRPr lang="en-US" sz="1300" dirty="0"/>
          </a:p>
        </p:txBody>
      </p:sp>
      <p:sp>
        <p:nvSpPr>
          <p:cNvPr id="16" name="Shape 10"/>
          <p:cNvSpPr/>
          <p:nvPr/>
        </p:nvSpPr>
        <p:spPr>
          <a:xfrm>
            <a:off x="812767" y="3211128"/>
            <a:ext cx="3429000" cy="1312912"/>
          </a:xfrm>
          <a:prstGeom prst="roundRect">
            <a:avLst>
              <a:gd name="adj" fmla="val 9673"/>
            </a:avLst>
          </a:prstGeom>
          <a:solidFill>
            <a:srgbClr val="EAEEF6"/>
          </a:solidFill>
          <a:ln/>
        </p:spPr>
      </p:sp>
      <p:sp>
        <p:nvSpPr>
          <p:cNvPr id="17" name="Text 11"/>
          <p:cNvSpPr/>
          <p:nvPr/>
        </p:nvSpPr>
        <p:spPr>
          <a:xfrm>
            <a:off x="990534" y="3388891"/>
            <a:ext cx="31656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Public Sans" pitchFamily="34" charset="0"/>
                <a:ea typeface="Public Sans" pitchFamily="34" charset="-122"/>
                <a:cs typeface="Public Sans" pitchFamily="34" charset="-120"/>
              </a:rPr>
              <a:t>LO QUE INVESTIGAMOS</a:t>
            </a:r>
            <a:endParaRPr lang="en-US" sz="1200" dirty="0"/>
          </a:p>
        </p:txBody>
      </p:sp>
      <p:sp>
        <p:nvSpPr>
          <p:cNvPr id="18" name="Text 12"/>
          <p:cNvSpPr/>
          <p:nvPr/>
        </p:nvSpPr>
        <p:spPr>
          <a:xfrm>
            <a:off x="990534" y="3652986"/>
            <a:ext cx="3165670" cy="71869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Public Sans" pitchFamily="34" charset="0"/>
                <a:ea typeface="Public Sans" pitchFamily="34" charset="-122"/>
                <a:cs typeface="Public Sans" pitchFamily="34" charset="-120"/>
              </a:rPr>
              <a:t>Que un programa en Python lea los CSV y los meta en la tabla </a:t>
            </a:r>
            <a:r>
              <a:rPr lang="en-US" sz="1300" b="1" dirty="0">
                <a:solidFill>
                  <a:srgbClr val="14213D"/>
                </a:solidFill>
                <a:latin typeface="Public Sans" pitchFamily="34" charset="0"/>
                <a:ea typeface="Public Sans" pitchFamily="34" charset="-122"/>
                <a:cs typeface="Public Sans" pitchFamily="34" charset="-120"/>
              </a:rPr>
              <a:t>él solo</a:t>
            </a:r>
            <a:r>
              <a:rPr lang="en-US" sz="1300" dirty="0">
                <a:solidFill>
                  <a:srgbClr val="3E4A5E"/>
                </a:solidFill>
                <a:latin typeface="Public Sans" pitchFamily="34" charset="0"/>
                <a:ea typeface="Public Sans" pitchFamily="34" charset="-122"/>
                <a:cs typeface="Public Sans" pitchFamily="34" charset="-120"/>
              </a:rPr>
              <a:t>, sin escribir ningún INSERT</a:t>
            </a:r>
            <a:endParaRPr lang="en-US" sz="1300" dirty="0"/>
          </a:p>
        </p:txBody>
      </p:sp>
      <p:sp>
        <p:nvSpPr>
          <p:cNvPr id="19" name="Text 13"/>
          <p:cNvSpPr/>
          <p:nvPr/>
        </p:nvSpPr>
        <p:spPr>
          <a:xfrm>
            <a:off x="4495767" y="1981150"/>
            <a:ext cx="7089884"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Public Sans" pitchFamily="34" charset="0"/>
                <a:ea typeface="Public Sans" pitchFamily="34" charset="-122"/>
                <a:cs typeface="Public Sans" pitchFamily="34" charset="-120"/>
              </a:rPr>
              <a:t>Paso 1 ·</a:t>
            </a:r>
            <a:r>
              <a:rPr lang="en-US" sz="1300" b="1" dirty="0">
                <a:solidFill>
                  <a:srgbClr val="14213D"/>
                </a:solidFill>
                <a:latin typeface="Public Sans" pitchFamily="34" charset="0"/>
                <a:ea typeface="Public Sans" pitchFamily="34" charset="-122"/>
                <a:cs typeface="Public Sans" pitchFamily="34" charset="-120"/>
              </a:rPr>
              <a:t> Leer cada CSV y quedarse con nombre y email</a:t>
            </a:r>
            <a:endParaRPr lang="en-US" sz="1300" dirty="0"/>
          </a:p>
        </p:txBody>
      </p:sp>
      <p:sp>
        <p:nvSpPr>
          <p:cNvPr id="20" name="Shape 14"/>
          <p:cNvSpPr/>
          <p:nvPr/>
        </p:nvSpPr>
        <p:spPr>
          <a:xfrm>
            <a:off x="4495767" y="2275743"/>
            <a:ext cx="6883383" cy="3365500"/>
          </a:xfrm>
          <a:prstGeom prst="roundRect">
            <a:avLst>
              <a:gd name="adj" fmla="val 3019"/>
            </a:avLst>
          </a:prstGeom>
          <a:solidFill>
            <a:srgbClr val="1E1E1E"/>
          </a:solidFill>
          <a:ln/>
        </p:spPr>
      </p:sp>
      <p:pic>
        <p:nvPicPr>
          <p:cNvPr id="21" name="Image 4" descr="Código Python que lee los CSV de clase 1 y clase 2 con pandas y se queda con nombre y email">    </p:cNvPr>
          <p:cNvPicPr>
            <a:picLocks noChangeAspect="1"/>
          </p:cNvPicPr>
          <p:nvPr/>
        </p:nvPicPr>
        <p:blipFill>
          <a:blip r:embed="rId5"/>
          <a:stretch>
            <a:fillRect/>
          </a:stretch>
        </p:blipFill>
        <p:spPr>
          <a:xfrm>
            <a:off x="5022642" y="2275743"/>
            <a:ext cx="5829631" cy="3365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67" y="812763"/>
            <a:ext cx="10883460" cy="467668"/>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Paso 2: unir las clases y crear la tabla</a:t>
            </a:r>
            <a:endParaRPr lang="en-US" sz="3200" dirty="0"/>
          </a:p>
        </p:txBody>
      </p:sp>
      <p:sp>
        <p:nvSpPr>
          <p:cNvPr id="3" name="Shape 1"/>
          <p:cNvSpPr/>
          <p:nvPr/>
        </p:nvSpPr>
        <p:spPr>
          <a:xfrm>
            <a:off x="819117" y="1464531"/>
            <a:ext cx="3289300" cy="1321379"/>
          </a:xfrm>
          <a:prstGeom prst="roundRect">
            <a:avLst>
              <a:gd name="adj" fmla="val 9131"/>
            </a:avLst>
          </a:prstGeom>
          <a:solidFill>
            <a:srgbClr val="FFFFFF"/>
          </a:solidFill>
          <a:ln w="12700">
            <a:solidFill>
              <a:srgbClr val="DCE2EC"/>
            </a:solidFill>
            <a:prstDash val="solid"/>
          </a:ln>
        </p:spPr>
      </p:sp>
      <p:sp>
        <p:nvSpPr>
          <p:cNvPr id="4" name="Text 2"/>
          <p:cNvSpPr/>
          <p:nvPr/>
        </p:nvSpPr>
        <p:spPr>
          <a:xfrm>
            <a:off x="1001117" y="1646535"/>
            <a:ext cx="30130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Public Sans" pitchFamily="34" charset="0"/>
                <a:ea typeface="Public Sans" pitchFamily="34" charset="-122"/>
                <a:cs typeface="Public Sans" pitchFamily="34" charset="-120"/>
              </a:rPr>
              <a:t>UNIR</a:t>
            </a:r>
            <a:endParaRPr lang="en-US" sz="1200" dirty="0"/>
          </a:p>
        </p:txBody>
      </p:sp>
      <p:sp>
        <p:nvSpPr>
          <p:cNvPr id="5" name="Text 3"/>
          <p:cNvSpPr/>
          <p:nvPr/>
        </p:nvSpPr>
        <p:spPr>
          <a:xfrm>
            <a:off x="1001117" y="1910618"/>
            <a:ext cx="3013058" cy="71869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concat</a:t>
            </a:r>
            <a:r>
              <a:rPr lang="en-US" sz="1300" dirty="0">
                <a:solidFill>
                  <a:srgbClr val="3E4A5E"/>
                </a:solidFill>
                <a:latin typeface="Public Sans" pitchFamily="34" charset="0"/>
                <a:ea typeface="Public Sans" pitchFamily="34" charset="-122"/>
                <a:cs typeface="Public Sans" pitchFamily="34" charset="-120"/>
              </a:rPr>
              <a:t> pone las 4 clases una debajo de otra: una sola lista con los 52 alumnos</a:t>
            </a:r>
            <a:endParaRPr lang="en-US" sz="1300" dirty="0"/>
          </a:p>
        </p:txBody>
      </p:sp>
      <p:sp>
        <p:nvSpPr>
          <p:cNvPr id="6" name="Shape 4"/>
          <p:cNvSpPr/>
          <p:nvPr/>
        </p:nvSpPr>
        <p:spPr>
          <a:xfrm>
            <a:off x="819117" y="2925614"/>
            <a:ext cx="3289300" cy="1090282"/>
          </a:xfrm>
          <a:prstGeom prst="roundRect">
            <a:avLst>
              <a:gd name="adj" fmla="val 11066"/>
            </a:avLst>
          </a:prstGeom>
          <a:solidFill>
            <a:srgbClr val="FFFFFF"/>
          </a:solidFill>
          <a:ln w="12700">
            <a:solidFill>
              <a:srgbClr val="DCE2EC"/>
            </a:solidFill>
            <a:prstDash val="solid"/>
          </a:ln>
        </p:spPr>
      </p:sp>
      <p:sp>
        <p:nvSpPr>
          <p:cNvPr id="7" name="Text 5"/>
          <p:cNvSpPr/>
          <p:nvPr/>
        </p:nvSpPr>
        <p:spPr>
          <a:xfrm>
            <a:off x="1001117" y="3107606"/>
            <a:ext cx="30130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Public Sans" pitchFamily="34" charset="0"/>
                <a:ea typeface="Public Sans" pitchFamily="34" charset="-122"/>
                <a:cs typeface="Public Sans" pitchFamily="34" charset="-120"/>
              </a:rPr>
              <a:t>CONECTAR</a:t>
            </a:r>
            <a:endParaRPr lang="en-US" sz="1200" dirty="0"/>
          </a:p>
        </p:txBody>
      </p:sp>
      <p:sp>
        <p:nvSpPr>
          <p:cNvPr id="8" name="Text 6"/>
          <p:cNvSpPr/>
          <p:nvPr/>
        </p:nvSpPr>
        <p:spPr>
          <a:xfrm>
            <a:off x="1001117" y="3371701"/>
            <a:ext cx="3013058" cy="48759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SQLAlchemy</a:t>
            </a:r>
            <a:r>
              <a:rPr lang="en-US" sz="1300" dirty="0">
                <a:solidFill>
                  <a:srgbClr val="3E4A5E"/>
                </a:solidFill>
                <a:latin typeface="Public Sans" pitchFamily="34" charset="0"/>
                <a:ea typeface="Public Sans" pitchFamily="34" charset="-122"/>
                <a:cs typeface="Public Sans" pitchFamily="34" charset="-120"/>
              </a:rPr>
              <a:t> es el puente entre Python y la base de datos</a:t>
            </a:r>
            <a:endParaRPr lang="en-US" sz="1300" dirty="0"/>
          </a:p>
        </p:txBody>
      </p:sp>
      <p:sp>
        <p:nvSpPr>
          <p:cNvPr id="9" name="Shape 7"/>
          <p:cNvSpPr/>
          <p:nvPr/>
        </p:nvSpPr>
        <p:spPr>
          <a:xfrm>
            <a:off x="819117" y="4155591"/>
            <a:ext cx="3289300" cy="1090282"/>
          </a:xfrm>
          <a:prstGeom prst="roundRect">
            <a:avLst>
              <a:gd name="adj" fmla="val 11066"/>
            </a:avLst>
          </a:prstGeom>
          <a:solidFill>
            <a:srgbClr val="FFFFFF"/>
          </a:solidFill>
          <a:ln w="12700">
            <a:solidFill>
              <a:srgbClr val="DCE2EC"/>
            </a:solidFill>
            <a:prstDash val="solid"/>
          </a:ln>
        </p:spPr>
      </p:sp>
      <p:sp>
        <p:nvSpPr>
          <p:cNvPr id="10" name="Text 8"/>
          <p:cNvSpPr/>
          <p:nvPr/>
        </p:nvSpPr>
        <p:spPr>
          <a:xfrm>
            <a:off x="1001117" y="4337596"/>
            <a:ext cx="30130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Public Sans" pitchFamily="34" charset="0"/>
                <a:ea typeface="Public Sans" pitchFamily="34" charset="-122"/>
                <a:cs typeface="Public Sans" pitchFamily="34" charset="-120"/>
              </a:rPr>
              <a:t>CREAR LA TABLA</a:t>
            </a:r>
            <a:endParaRPr lang="en-US" sz="1200" dirty="0"/>
          </a:p>
        </p:txBody>
      </p:sp>
      <p:sp>
        <p:nvSpPr>
          <p:cNvPr id="11" name="Text 9"/>
          <p:cNvSpPr/>
          <p:nvPr/>
        </p:nvSpPr>
        <p:spPr>
          <a:xfrm>
            <a:off x="1001117" y="4601679"/>
            <a:ext cx="3013058"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Public Sans" pitchFamily="34" charset="0"/>
                <a:ea typeface="Public Sans" pitchFamily="34" charset="-122"/>
                <a:cs typeface="Public Sans" pitchFamily="34" charset="-120"/>
              </a:rPr>
              <a:t>La misma tabla </a:t>
            </a:r>
            <a:r>
              <a:rPr lang="en-US" sz="1300" b="1" dirty="0">
                <a:solidFill>
                  <a:srgbClr val="14213D"/>
                </a:solidFill>
                <a:latin typeface="Public Sans" pitchFamily="34" charset="0"/>
                <a:ea typeface="Public Sans" pitchFamily="34" charset="-122"/>
                <a:cs typeface="Public Sans" pitchFamily="34" charset="-120"/>
              </a:rPr>
              <a:t>alumnos</a:t>
            </a:r>
            <a:r>
              <a:rPr lang="en-US" sz="1300" dirty="0">
                <a:solidFill>
                  <a:srgbClr val="3E4A5E"/>
                </a:solidFill>
                <a:latin typeface="Public Sans" pitchFamily="34" charset="0"/>
                <a:ea typeface="Public Sans" pitchFamily="34" charset="-122"/>
                <a:cs typeface="Public Sans" pitchFamily="34" charset="-120"/>
              </a:rPr>
              <a:t> de nuestro modelo: id (PK), nombre y email</a:t>
            </a:r>
            <a:endParaRPr lang="en-US" sz="1300" dirty="0"/>
          </a:p>
        </p:txBody>
      </p:sp>
      <p:sp>
        <p:nvSpPr>
          <p:cNvPr id="12" name="Text 10"/>
          <p:cNvSpPr/>
          <p:nvPr/>
        </p:nvSpPr>
        <p:spPr>
          <a:xfrm>
            <a:off x="4368767" y="1458181"/>
            <a:ext cx="7220780"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Public Sans" pitchFamily="34" charset="0"/>
                <a:ea typeface="Public Sans" pitchFamily="34" charset="-122"/>
                <a:cs typeface="Public Sans" pitchFamily="34" charset="-120"/>
              </a:rPr>
              <a:t>Unir y conectar</a:t>
            </a:r>
            <a:endParaRPr lang="en-US" sz="1300" dirty="0"/>
          </a:p>
        </p:txBody>
      </p:sp>
      <p:sp>
        <p:nvSpPr>
          <p:cNvPr id="13" name="Shape 11"/>
          <p:cNvSpPr/>
          <p:nvPr/>
        </p:nvSpPr>
        <p:spPr>
          <a:xfrm>
            <a:off x="4368767" y="1752774"/>
            <a:ext cx="7010383" cy="2133534"/>
          </a:xfrm>
          <a:prstGeom prst="roundRect">
            <a:avLst>
              <a:gd name="adj" fmla="val 4762"/>
            </a:avLst>
          </a:prstGeom>
          <a:solidFill>
            <a:srgbClr val="1E1E1E"/>
          </a:solidFill>
          <a:ln/>
        </p:spPr>
      </p:sp>
      <p:pic>
        <p:nvPicPr>
          <p:cNvPr id="14" name="Image 0" descr="Código que une las cuatro clases con concat y crea la conexión a SQLite">    </p:cNvPr>
          <p:cNvPicPr>
            <a:picLocks noChangeAspect="1"/>
          </p:cNvPicPr>
          <p:nvPr/>
        </p:nvPicPr>
        <p:blipFill>
          <a:blip r:embed="rId1"/>
          <a:srcRect l="-57" r="-57" t="0" b="0"/>
          <a:stretch/>
        </p:blipFill>
        <p:spPr>
          <a:xfrm>
            <a:off x="4368767" y="1752774"/>
            <a:ext cx="7010383" cy="2133534"/>
          </a:xfrm>
          <a:prstGeom prst="roundRect">
            <a:avLst>
              <a:gd name="adj" fmla="val 4762"/>
            </a:avLst>
          </a:prstGeom>
        </p:spPr>
      </p:pic>
      <p:sp>
        <p:nvSpPr>
          <p:cNvPr id="15" name="Text 12"/>
          <p:cNvSpPr/>
          <p:nvPr/>
        </p:nvSpPr>
        <p:spPr>
          <a:xfrm>
            <a:off x="4368767" y="3949812"/>
            <a:ext cx="7220780"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Public Sans" pitchFamily="34" charset="0"/>
                <a:ea typeface="Public Sans" pitchFamily="34" charset="-122"/>
                <a:cs typeface="Public Sans" pitchFamily="34" charset="-120"/>
              </a:rPr>
              <a:t>Crear la tabla alumnos</a:t>
            </a:r>
            <a:endParaRPr lang="en-US" sz="1300" dirty="0"/>
          </a:p>
        </p:txBody>
      </p:sp>
      <p:sp>
        <p:nvSpPr>
          <p:cNvPr id="16" name="Shape 13"/>
          <p:cNvSpPr/>
          <p:nvPr/>
        </p:nvSpPr>
        <p:spPr>
          <a:xfrm>
            <a:off x="4368767" y="4244404"/>
            <a:ext cx="7010383" cy="1644633"/>
          </a:xfrm>
          <a:prstGeom prst="roundRect">
            <a:avLst>
              <a:gd name="adj" fmla="val 6178"/>
            </a:avLst>
          </a:prstGeom>
          <a:solidFill>
            <a:srgbClr val="1E1E1E"/>
          </a:solidFill>
          <a:ln/>
        </p:spPr>
      </p:sp>
      <p:pic>
        <p:nvPicPr>
          <p:cNvPr id="17" name="Image 1" descr="Código que crea la tabla alumnos con SQLAlchemy">    </p:cNvPr>
          <p:cNvPicPr>
            <a:picLocks noChangeAspect="1"/>
          </p:cNvPicPr>
          <p:nvPr/>
        </p:nvPicPr>
        <p:blipFill>
          <a:blip r:embed="rId2"/>
          <a:srcRect l="0" r="0" t="-48" b="-48"/>
          <a:stretch/>
        </p:blipFill>
        <p:spPr>
          <a:xfrm>
            <a:off x="4368767" y="4244404"/>
            <a:ext cx="7010383" cy="1644633"/>
          </a:xfrm>
          <a:prstGeom prst="roundRect">
            <a:avLst>
              <a:gd name="adj" fmla="val 6178"/>
            </a:avLst>
          </a:prstGeom>
        </p:spPr>
      </p:pic>
      <p:sp>
        <p:nvSpPr>
          <p:cNvPr id="18" name="Text 14"/>
          <p:cNvSpPr/>
          <p:nvPr/>
        </p:nvSpPr>
        <p:spPr>
          <a:xfrm>
            <a:off x="812767" y="6238292"/>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6 · Investigación del equipo de Data Science · 2 de 3</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67" y="812763"/>
            <a:ext cx="11379233"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Paso 3: insertar los datos y comprobar que funciona</a:t>
            </a:r>
            <a:endParaRPr lang="en-US" sz="3200" dirty="0"/>
          </a:p>
        </p:txBody>
      </p:sp>
      <p:sp>
        <p:nvSpPr>
          <p:cNvPr id="3" name="Shape 1"/>
          <p:cNvSpPr/>
          <p:nvPr/>
        </p:nvSpPr>
        <p:spPr>
          <a:xfrm>
            <a:off x="819117" y="1469244"/>
            <a:ext cx="3289300" cy="1090282"/>
          </a:xfrm>
          <a:prstGeom prst="roundRect">
            <a:avLst>
              <a:gd name="adj" fmla="val 11066"/>
            </a:avLst>
          </a:prstGeom>
          <a:solidFill>
            <a:srgbClr val="FFFFFF"/>
          </a:solidFill>
          <a:ln w="12700">
            <a:solidFill>
              <a:srgbClr val="DCE2EC"/>
            </a:solidFill>
            <a:prstDash val="solid"/>
          </a:ln>
        </p:spPr>
      </p:sp>
      <p:sp>
        <p:nvSpPr>
          <p:cNvPr id="4" name="Text 2"/>
          <p:cNvSpPr/>
          <p:nvPr/>
        </p:nvSpPr>
        <p:spPr>
          <a:xfrm>
            <a:off x="1001117" y="1651248"/>
            <a:ext cx="30130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Public Sans" pitchFamily="34" charset="0"/>
                <a:ea typeface="Public Sans" pitchFamily="34" charset="-122"/>
                <a:cs typeface="Public Sans" pitchFamily="34" charset="-120"/>
              </a:rPr>
              <a:t>INSERTAR</a:t>
            </a:r>
            <a:endParaRPr lang="en-US" sz="1200" dirty="0"/>
          </a:p>
        </p:txBody>
      </p:sp>
      <p:sp>
        <p:nvSpPr>
          <p:cNvPr id="5" name="Text 3"/>
          <p:cNvSpPr/>
          <p:nvPr/>
        </p:nvSpPr>
        <p:spPr>
          <a:xfrm>
            <a:off x="1001117" y="1915331"/>
            <a:ext cx="3013058"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Public Sans" pitchFamily="34" charset="0"/>
                <a:ea typeface="Public Sans" pitchFamily="34" charset="-122"/>
                <a:cs typeface="Public Sans" pitchFamily="34" charset="-120"/>
              </a:rPr>
              <a:t>Una sola línea, </a:t>
            </a:r>
            <a:r>
              <a:rPr lang="en-US" sz="1300" b="1" dirty="0">
                <a:solidFill>
                  <a:srgbClr val="14213D"/>
                </a:solidFill>
                <a:latin typeface="Public Sans" pitchFamily="34" charset="0"/>
                <a:ea typeface="Public Sans" pitchFamily="34" charset="-122"/>
                <a:cs typeface="Public Sans" pitchFamily="34" charset="-120"/>
              </a:rPr>
              <a:t>to_sql</a:t>
            </a:r>
            <a:r>
              <a:rPr lang="en-US" sz="1300" dirty="0">
                <a:solidFill>
                  <a:srgbClr val="3E4A5E"/>
                </a:solidFill>
                <a:latin typeface="Public Sans" pitchFamily="34" charset="0"/>
                <a:ea typeface="Public Sans" pitchFamily="34" charset="-122"/>
                <a:cs typeface="Public Sans" pitchFamily="34" charset="-120"/>
              </a:rPr>
              <a:t>, mete todos los alumnos en la tabla</a:t>
            </a:r>
            <a:endParaRPr lang="en-US" sz="1300" dirty="0"/>
          </a:p>
        </p:txBody>
      </p:sp>
      <p:sp>
        <p:nvSpPr>
          <p:cNvPr id="6" name="Shape 4"/>
          <p:cNvSpPr/>
          <p:nvPr/>
        </p:nvSpPr>
        <p:spPr>
          <a:xfrm>
            <a:off x="812767" y="2692871"/>
            <a:ext cx="3302000" cy="1081815"/>
          </a:xfrm>
          <a:prstGeom prst="roundRect">
            <a:avLst>
              <a:gd name="adj" fmla="val 11740"/>
            </a:avLst>
          </a:prstGeom>
          <a:solidFill>
            <a:srgbClr val="E6F2EB"/>
          </a:solidFill>
          <a:ln/>
        </p:spPr>
      </p:sp>
      <p:sp>
        <p:nvSpPr>
          <p:cNvPr id="7" name="Text 5"/>
          <p:cNvSpPr/>
          <p:nvPr/>
        </p:nvSpPr>
        <p:spPr>
          <a:xfrm>
            <a:off x="990534" y="2870646"/>
            <a:ext cx="30348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D"/>
                </a:solidFill>
                <a:latin typeface="Public Sans" pitchFamily="34" charset="0"/>
                <a:ea typeface="Public Sans" pitchFamily="34" charset="-122"/>
                <a:cs typeface="Public Sans" pitchFamily="34" charset="-120"/>
              </a:rPr>
              <a:t>FUNCIONA</a:t>
            </a:r>
            <a:endParaRPr lang="en-US" sz="1200" dirty="0"/>
          </a:p>
        </p:txBody>
      </p:sp>
      <p:sp>
        <p:nvSpPr>
          <p:cNvPr id="8" name="Text 6"/>
          <p:cNvSpPr/>
          <p:nvPr/>
        </p:nvSpPr>
        <p:spPr>
          <a:xfrm>
            <a:off x="990534" y="3134730"/>
            <a:ext cx="3034860"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E4A3A"/>
                </a:solidFill>
                <a:latin typeface="Public Sans" pitchFamily="34" charset="0"/>
                <a:ea typeface="Public Sans" pitchFamily="34" charset="-122"/>
                <a:cs typeface="Public Sans" pitchFamily="34" charset="-120"/>
              </a:rPr>
              <a:t>Al consultar la tabla salen Jafet, Jorge, Onofre…</a:t>
            </a:r>
            <a:endParaRPr lang="en-US" sz="1300" dirty="0"/>
          </a:p>
        </p:txBody>
      </p:sp>
      <p:sp>
        <p:nvSpPr>
          <p:cNvPr id="9" name="Shape 7"/>
          <p:cNvSpPr/>
          <p:nvPr/>
        </p:nvSpPr>
        <p:spPr>
          <a:xfrm>
            <a:off x="812767" y="3901691"/>
            <a:ext cx="3302000" cy="1312912"/>
          </a:xfrm>
          <a:prstGeom prst="roundRect">
            <a:avLst>
              <a:gd name="adj" fmla="val 9673"/>
            </a:avLst>
          </a:prstGeom>
          <a:solidFill>
            <a:srgbClr val="14213D"/>
          </a:solidFill>
          <a:ln/>
        </p:spPr>
      </p:sp>
      <p:sp>
        <p:nvSpPr>
          <p:cNvPr id="10" name="Text 8"/>
          <p:cNvSpPr/>
          <p:nvPr/>
        </p:nvSpPr>
        <p:spPr>
          <a:xfrm>
            <a:off x="990534" y="4079453"/>
            <a:ext cx="30348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Public Sans" pitchFamily="34" charset="0"/>
                <a:ea typeface="Public Sans" pitchFamily="34" charset="-122"/>
                <a:cs typeface="Public Sans" pitchFamily="34" charset="-120"/>
              </a:rPr>
              <a:t>PROBADO EN SQLITE</a:t>
            </a:r>
            <a:endParaRPr lang="en-US" sz="1200" dirty="0"/>
          </a:p>
        </p:txBody>
      </p:sp>
      <p:sp>
        <p:nvSpPr>
          <p:cNvPr id="11" name="Text 9"/>
          <p:cNvSpPr/>
          <p:nvPr/>
        </p:nvSpPr>
        <p:spPr>
          <a:xfrm>
            <a:off x="990534" y="4343549"/>
            <a:ext cx="3034860" cy="71869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Public Sans" pitchFamily="34" charset="0"/>
                <a:ea typeface="Public Sans" pitchFamily="34" charset="-122"/>
                <a:cs typeface="Public Sans" pitchFamily="34" charset="-120"/>
              </a:rPr>
              <a:t>Para Supabase, solo cambia la conexión: </a:t>
            </a:r>
            <a:r>
              <a:rPr lang="en-US" sz="1300" dirty="0">
                <a:solidFill>
                  <a:srgbClr val="A6E3A1"/>
                </a:solidFill>
                <a:latin typeface="Public Sans" pitchFamily="34" charset="0"/>
                <a:ea typeface="Public Sans" pitchFamily="34" charset="-122"/>
                <a:cs typeface="Public Sans" pitchFamily="34" charset="-120"/>
              </a:rPr>
              <a:t>postgresql://…</a:t>
            </a:r>
            <a:r>
              <a:rPr lang="en-US" sz="1300" dirty="0">
                <a:solidFill>
                  <a:srgbClr val="F6F5F0"/>
                </a:solidFill>
                <a:latin typeface="Public Sans" pitchFamily="34" charset="0"/>
                <a:ea typeface="Public Sans" pitchFamily="34" charset="-122"/>
                <a:cs typeface="Public Sans" pitchFamily="34" charset="-120"/>
              </a:rPr>
              <a:t> en vez de </a:t>
            </a:r>
            <a:r>
              <a:rPr lang="en-US" sz="1300" dirty="0">
                <a:solidFill>
                  <a:srgbClr val="A6E3A1"/>
                </a:solidFill>
                <a:latin typeface="Public Sans" pitchFamily="34" charset="0"/>
                <a:ea typeface="Public Sans" pitchFamily="34" charset="-122"/>
                <a:cs typeface="Public Sans" pitchFamily="34" charset="-120"/>
              </a:rPr>
              <a:t>sqlite:///</a:t>
            </a:r>
            <a:endParaRPr lang="en-US" sz="1300" dirty="0"/>
          </a:p>
        </p:txBody>
      </p:sp>
      <p:sp>
        <p:nvSpPr>
          <p:cNvPr id="12" name="Text 10"/>
          <p:cNvSpPr/>
          <p:nvPr/>
        </p:nvSpPr>
        <p:spPr>
          <a:xfrm>
            <a:off x="4368767" y="1462894"/>
            <a:ext cx="7220780"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Public Sans" pitchFamily="34" charset="0"/>
                <a:ea typeface="Public Sans" pitchFamily="34" charset="-122"/>
                <a:cs typeface="Public Sans" pitchFamily="34" charset="-120"/>
              </a:rPr>
              <a:t>Insertar</a:t>
            </a:r>
            <a:endParaRPr lang="en-US" sz="1300" dirty="0"/>
          </a:p>
        </p:txBody>
      </p:sp>
      <p:sp>
        <p:nvSpPr>
          <p:cNvPr id="13" name="Shape 11"/>
          <p:cNvSpPr/>
          <p:nvPr/>
        </p:nvSpPr>
        <p:spPr>
          <a:xfrm>
            <a:off x="4368767" y="1757487"/>
            <a:ext cx="7010383" cy="355534"/>
          </a:xfrm>
          <a:prstGeom prst="roundRect">
            <a:avLst>
              <a:gd name="adj" fmla="val 21433"/>
            </a:avLst>
          </a:prstGeom>
          <a:solidFill>
            <a:srgbClr val="1E1E1E"/>
          </a:solidFill>
          <a:ln/>
        </p:spPr>
      </p:sp>
      <p:pic>
        <p:nvPicPr>
          <p:cNvPr id="14" name="Image 0" descr="Línea que inserta los datos en la tabla alumnos con to_sql">    </p:cNvPr>
          <p:cNvPicPr>
            <a:picLocks noChangeAspect="1"/>
          </p:cNvPicPr>
          <p:nvPr/>
        </p:nvPicPr>
        <p:blipFill>
          <a:blip r:embed="rId1"/>
          <a:stretch>
            <a:fillRect/>
          </a:stretch>
        </p:blipFill>
        <p:spPr>
          <a:xfrm>
            <a:off x="4368767" y="1759994"/>
            <a:ext cx="7010383" cy="350519"/>
          </a:xfrm>
          <a:custGeom>
            <a:avLst/>
            <a:gdLst/>
            <a:ahLst/>
            <a:cxnLst/>
            <a:rect l="l" t="t" r="r" b="b"/>
            <a:pathLst>
              <a:path w="7010383" h="350519">
                <a:moveTo>
                  <a:pt x="0" y="73693"/>
                </a:moveTo>
                <a:arcTo wR="76200" hR="76200" stAng="10800000" swAng="4515665"/>
                <a:lnTo>
                  <a:pt x="6953569" y="0"/>
                </a:lnTo>
                <a:arcTo wR="76200" hR="76200" stAng="17084335" swAng="4515665"/>
                <a:lnTo>
                  <a:pt x="7010383" y="276826"/>
                </a:lnTo>
                <a:arcTo wR="76200" hR="76200" stAng="0" swAng="4515665"/>
                <a:lnTo>
                  <a:pt x="56814" y="350519"/>
                </a:lnTo>
                <a:arcTo wR="76200" hR="76200" stAng="6284335" swAng="4515665"/>
                <a:close/>
              </a:path>
            </a:pathLst>
          </a:custGeom>
        </p:spPr>
      </p:pic>
      <p:sp>
        <p:nvSpPr>
          <p:cNvPr id="15" name="Text 12"/>
          <p:cNvSpPr/>
          <p:nvPr/>
        </p:nvSpPr>
        <p:spPr>
          <a:xfrm>
            <a:off x="4368767" y="2176525"/>
            <a:ext cx="7220780"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EB"/>
                </a:solidFill>
                <a:latin typeface="Public Sans" pitchFamily="34" charset="0"/>
                <a:ea typeface="Public Sans" pitchFamily="34" charset="-122"/>
                <a:cs typeface="Public Sans" pitchFamily="34" charset="-120"/>
              </a:rPr>
              <a:t>Contar las filas</a:t>
            </a:r>
            <a:endParaRPr lang="en-US" sz="1300" dirty="0"/>
          </a:p>
        </p:txBody>
      </p:sp>
      <p:sp>
        <p:nvSpPr>
          <p:cNvPr id="16" name="Shape 13"/>
          <p:cNvSpPr/>
          <p:nvPr/>
        </p:nvSpPr>
        <p:spPr>
          <a:xfrm>
            <a:off x="4368767" y="2471117"/>
            <a:ext cx="7010383" cy="1174750"/>
          </a:xfrm>
          <a:prstGeom prst="roundRect">
            <a:avLst>
              <a:gd name="adj" fmla="val 6486"/>
            </a:avLst>
          </a:prstGeom>
          <a:solidFill>
            <a:srgbClr val="1E1E1E"/>
          </a:solidFill>
          <a:ln/>
        </p:spPr>
      </p:sp>
      <p:pic>
        <p:nvPicPr>
          <p:cNvPr id="17" name="Image 1" descr="Código que cuenta las filas de la tabla alumnos con SELECT COUNT">    </p:cNvPr>
          <p:cNvPicPr>
            <a:picLocks noChangeAspect="1"/>
          </p:cNvPicPr>
          <p:nvPr/>
        </p:nvPicPr>
        <p:blipFill>
          <a:blip r:embed="rId2"/>
          <a:srcRect l="0" r="0" t="-115" b="-115"/>
          <a:stretch/>
        </p:blipFill>
        <p:spPr>
          <a:xfrm>
            <a:off x="4368767" y="2471117"/>
            <a:ext cx="7010383" cy="1174750"/>
          </a:xfrm>
          <a:prstGeom prst="roundRect">
            <a:avLst>
              <a:gd name="adj" fmla="val 6486"/>
            </a:avLst>
          </a:prstGeom>
        </p:spPr>
      </p:pic>
      <p:sp>
        <p:nvSpPr>
          <p:cNvPr id="18" name="Text 14"/>
          <p:cNvSpPr/>
          <p:nvPr/>
        </p:nvSpPr>
        <p:spPr>
          <a:xfrm>
            <a:off x="4368767" y="3709367"/>
            <a:ext cx="7220780" cy="25649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7A4D"/>
                </a:solidFill>
                <a:latin typeface="Public Sans" pitchFamily="34" charset="0"/>
                <a:ea typeface="Public Sans" pitchFamily="34" charset="-122"/>
                <a:cs typeface="Public Sans" pitchFamily="34" charset="-120"/>
              </a:rPr>
              <a:t>Resultado: los alumnos ya están en la tabla</a:t>
            </a:r>
            <a:endParaRPr lang="en-US" sz="1300" dirty="0"/>
          </a:p>
        </p:txBody>
      </p:sp>
      <p:sp>
        <p:nvSpPr>
          <p:cNvPr id="19" name="Shape 15"/>
          <p:cNvSpPr/>
          <p:nvPr/>
        </p:nvSpPr>
        <p:spPr>
          <a:xfrm>
            <a:off x="4368767" y="4003973"/>
            <a:ext cx="7010383" cy="1174750"/>
          </a:xfrm>
          <a:prstGeom prst="roundRect">
            <a:avLst>
              <a:gd name="adj" fmla="val 6486"/>
            </a:avLst>
          </a:prstGeom>
          <a:solidFill>
            <a:srgbClr val="1E1E1E"/>
          </a:solidFill>
          <a:ln/>
        </p:spPr>
      </p:sp>
      <p:pic>
        <p:nvPicPr>
          <p:cNvPr id="20" name="Image 2" descr="Resultado de SELECT * FROM alumnos LIMIT 5 con los cinco primeros alumnos cargados">    </p:cNvPr>
          <p:cNvPicPr>
            <a:picLocks noChangeAspect="1"/>
          </p:cNvPicPr>
          <p:nvPr/>
        </p:nvPicPr>
        <p:blipFill>
          <a:blip r:embed="rId3"/>
          <a:srcRect l="0" r="0" t="-115" b="-115"/>
          <a:stretch/>
        </p:blipFill>
        <p:spPr>
          <a:xfrm>
            <a:off x="4368767" y="4003973"/>
            <a:ext cx="7010383" cy="1174750"/>
          </a:xfrm>
          <a:prstGeom prst="roundRect">
            <a:avLst>
              <a:gd name="adj" fmla="val 6486"/>
            </a:avLst>
          </a:prstGeom>
        </p:spPr>
      </p:pic>
      <p:sp>
        <p:nvSpPr>
          <p:cNvPr id="21" name="Text 16"/>
          <p:cNvSpPr/>
          <p:nvPr/>
        </p:nvSpPr>
        <p:spPr>
          <a:xfrm>
            <a:off x="812767" y="6238292"/>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6 · Investigación del equipo de Data Science · 3 de 3</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67" y="812763"/>
            <a:ext cx="10883460" cy="52835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Demo: ¿quién corrige cada proyecto?</a:t>
            </a:r>
            <a:endParaRPr lang="en-US" sz="3600" dirty="0"/>
          </a:p>
        </p:txBody>
      </p:sp>
      <p:sp>
        <p:nvSpPr>
          <p:cNvPr id="3" name="Shape 1"/>
          <p:cNvSpPr/>
          <p:nvPr/>
        </p:nvSpPr>
        <p:spPr>
          <a:xfrm>
            <a:off x="812767" y="1518865"/>
            <a:ext cx="4826000" cy="4318000"/>
          </a:xfrm>
          <a:prstGeom prst="roundRect">
            <a:avLst>
              <a:gd name="adj" fmla="val 2353"/>
            </a:avLst>
          </a:prstGeom>
          <a:solidFill>
            <a:srgbClr val="FFFFFF"/>
          </a:solidFill>
          <a:ln/>
        </p:spPr>
      </p:sp>
      <p:pic>
        <p:nvPicPr>
          <p:cNvPr id="4" name="Image 0" descr="Consulta en Supabase con los profesores que corrigen cada proyecto y el porcentaje de aptos">    </p:cNvPr>
          <p:cNvPicPr>
            <a:picLocks noChangeAspect="1"/>
          </p:cNvPicPr>
          <p:nvPr/>
        </p:nvPicPr>
        <p:blipFill>
          <a:blip r:embed="rId1"/>
          <a:srcRect l="-344" r="-344" t="0" b="0"/>
          <a:stretch/>
        </p:blipFill>
        <p:spPr>
          <a:xfrm>
            <a:off x="825467" y="1531565"/>
            <a:ext cx="4800600" cy="4292600"/>
          </a:xfrm>
          <a:prstGeom prst="roundRect">
            <a:avLst>
              <a:gd name="adj" fmla="val 2071"/>
            </a:avLst>
          </a:prstGeom>
        </p:spPr>
      </p:pic>
      <p:sp>
        <p:nvSpPr>
          <p:cNvPr id="5" name="Shape 2"/>
          <p:cNvSpPr/>
          <p:nvPr/>
        </p:nvSpPr>
        <p:spPr>
          <a:xfrm>
            <a:off x="819117" y="1525215"/>
            <a:ext cx="4813300" cy="4305300"/>
          </a:xfrm>
          <a:prstGeom prst="roundRect">
            <a:avLst>
              <a:gd name="adj" fmla="val 2212"/>
            </a:avLst>
          </a:prstGeom>
          <a:noFill/>
          <a:ln w="12700">
            <a:solidFill>
              <a:srgbClr val="DCE2EC"/>
            </a:solidFill>
            <a:prstDash val="solid"/>
          </a:ln>
        </p:spPr>
      </p:sp>
      <p:sp>
        <p:nvSpPr>
          <p:cNvPr id="6" name="Shape 3"/>
          <p:cNvSpPr/>
          <p:nvPr/>
        </p:nvSpPr>
        <p:spPr>
          <a:xfrm>
            <a:off x="5943534" y="2330562"/>
            <a:ext cx="2641616" cy="1094631"/>
          </a:xfrm>
          <a:prstGeom prst="roundRect">
            <a:avLst>
              <a:gd name="adj" fmla="val 11602"/>
            </a:avLst>
          </a:prstGeom>
          <a:solidFill>
            <a:srgbClr val="EAEEF6"/>
          </a:solidFill>
          <a:ln/>
        </p:spPr>
      </p:sp>
      <p:sp>
        <p:nvSpPr>
          <p:cNvPr id="7" name="Text 4"/>
          <p:cNvSpPr/>
          <p:nvPr/>
        </p:nvSpPr>
        <p:spPr>
          <a:xfrm>
            <a:off x="6121301" y="2508324"/>
            <a:ext cx="2354665" cy="482633"/>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F6FEB"/>
                </a:solidFill>
                <a:latin typeface="Space Grotesk" pitchFamily="34" charset="0"/>
                <a:ea typeface="Space Grotesk" pitchFamily="34" charset="-122"/>
                <a:cs typeface="Space Grotesk" pitchFamily="34" charset="-120"/>
              </a:rPr>
              <a:t>56 %</a:t>
            </a:r>
            <a:endParaRPr lang="en-US" sz="3600" dirty="0"/>
          </a:p>
        </p:txBody>
      </p:sp>
      <p:sp>
        <p:nvSpPr>
          <p:cNvPr id="8" name="Text 5"/>
          <p:cNvSpPr/>
          <p:nvPr/>
        </p:nvSpPr>
        <p:spPr>
          <a:xfrm>
            <a:off x="6121301" y="3016324"/>
            <a:ext cx="2354665"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Public Sans" pitchFamily="34" charset="0"/>
                <a:ea typeface="Public Sans" pitchFamily="34" charset="-122"/>
                <a:cs typeface="Public Sans" pitchFamily="34" charset="-120"/>
              </a:rPr>
              <a:t>aptos en </a:t>
            </a:r>
            <a:r>
              <a:rPr lang="en-US" sz="1300" b="1" dirty="0">
                <a:solidFill>
                  <a:srgbClr val="3E4A5E"/>
                </a:solidFill>
                <a:latin typeface="Public Sans" pitchFamily="34" charset="0"/>
                <a:ea typeface="Public Sans" pitchFamily="34" charset="-122"/>
                <a:cs typeface="Public Sans" pitchFamily="34" charset="-120"/>
              </a:rPr>
              <a:t>EDA</a:t>
            </a:r>
            <a:r>
              <a:rPr lang="en-US" sz="1300" dirty="0">
                <a:solidFill>
                  <a:srgbClr val="3E4A5E"/>
                </a:solidFill>
                <a:latin typeface="Public Sans" pitchFamily="34" charset="0"/>
                <a:ea typeface="Public Sans" pitchFamily="34" charset="-122"/>
                <a:cs typeface="Public Sans" pitchFamily="34" charset="-120"/>
              </a:rPr>
              <a:t>, el más difícil</a:t>
            </a:r>
            <a:endParaRPr lang="en-US" sz="1300" dirty="0"/>
          </a:p>
        </p:txBody>
      </p:sp>
      <p:sp>
        <p:nvSpPr>
          <p:cNvPr id="9" name="Shape 6"/>
          <p:cNvSpPr/>
          <p:nvPr/>
        </p:nvSpPr>
        <p:spPr>
          <a:xfrm>
            <a:off x="8737533" y="2330562"/>
            <a:ext cx="2641699" cy="1094631"/>
          </a:xfrm>
          <a:prstGeom prst="roundRect">
            <a:avLst>
              <a:gd name="adj" fmla="val 11602"/>
            </a:avLst>
          </a:prstGeom>
          <a:solidFill>
            <a:srgbClr val="EAEEF6"/>
          </a:solidFill>
          <a:ln/>
        </p:spPr>
      </p:sp>
      <p:sp>
        <p:nvSpPr>
          <p:cNvPr id="10" name="Text 7"/>
          <p:cNvSpPr/>
          <p:nvPr/>
        </p:nvSpPr>
        <p:spPr>
          <a:xfrm>
            <a:off x="8915301" y="2508324"/>
            <a:ext cx="2354750" cy="482633"/>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2F6FEB"/>
                </a:solidFill>
                <a:latin typeface="Space Grotesk" pitchFamily="34" charset="0"/>
                <a:ea typeface="Space Grotesk" pitchFamily="34" charset="-122"/>
                <a:cs typeface="Space Grotesk" pitchFamily="34" charset="-120"/>
              </a:rPr>
              <a:t>88 %</a:t>
            </a:r>
            <a:endParaRPr lang="en-US" sz="3600" dirty="0"/>
          </a:p>
        </p:txBody>
      </p:sp>
      <p:sp>
        <p:nvSpPr>
          <p:cNvPr id="11" name="Text 8"/>
          <p:cNvSpPr/>
          <p:nvPr/>
        </p:nvSpPr>
        <p:spPr>
          <a:xfrm>
            <a:off x="8915301" y="3016324"/>
            <a:ext cx="2354750" cy="25649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Public Sans" pitchFamily="34" charset="0"/>
                <a:ea typeface="Public Sans" pitchFamily="34" charset="-122"/>
                <a:cs typeface="Public Sans" pitchFamily="34" charset="-120"/>
              </a:rPr>
              <a:t>aptos en </a:t>
            </a:r>
            <a:r>
              <a:rPr lang="en-US" sz="1300" b="1" dirty="0">
                <a:solidFill>
                  <a:srgbClr val="3E4A5E"/>
                </a:solidFill>
                <a:latin typeface="Public Sans" pitchFamily="34" charset="0"/>
                <a:ea typeface="Public Sans" pitchFamily="34" charset="-122"/>
                <a:cs typeface="Public Sans" pitchFamily="34" charset="-120"/>
              </a:rPr>
              <a:t>ML</a:t>
            </a:r>
            <a:r>
              <a:rPr lang="en-US" sz="1300" dirty="0">
                <a:solidFill>
                  <a:srgbClr val="3E4A5E"/>
                </a:solidFill>
                <a:latin typeface="Public Sans" pitchFamily="34" charset="0"/>
                <a:ea typeface="Public Sans" pitchFamily="34" charset="-122"/>
                <a:cs typeface="Public Sans" pitchFamily="34" charset="-120"/>
              </a:rPr>
              <a:t> y </a:t>
            </a:r>
            <a:r>
              <a:rPr lang="en-US" sz="1300" b="1" dirty="0">
                <a:solidFill>
                  <a:srgbClr val="3E4A5E"/>
                </a:solidFill>
                <a:latin typeface="Public Sans" pitchFamily="34" charset="0"/>
                <a:ea typeface="Public Sans" pitchFamily="34" charset="-122"/>
                <a:cs typeface="Public Sans" pitchFamily="34" charset="-120"/>
              </a:rPr>
              <a:t>Deployment</a:t>
            </a:r>
            <a:endParaRPr lang="en-US" sz="1300" dirty="0"/>
          </a:p>
        </p:txBody>
      </p:sp>
      <p:sp>
        <p:nvSpPr>
          <p:cNvPr id="12" name="Text 9"/>
          <p:cNvSpPr/>
          <p:nvPr/>
        </p:nvSpPr>
        <p:spPr>
          <a:xfrm>
            <a:off x="5943534" y="3602955"/>
            <a:ext cx="5598770" cy="52314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E"/>
                </a:solidFill>
                <a:latin typeface="Public Sans" pitchFamily="34" charset="0"/>
                <a:ea typeface="Public Sans" pitchFamily="34" charset="-122"/>
                <a:cs typeface="Public Sans" pitchFamily="34" charset="-120"/>
              </a:rPr>
              <a:t>Cinco </a:t>
            </a:r>
            <a:r>
              <a:rPr lang="en-US" sz="1400" b="1" dirty="0">
                <a:solidFill>
                  <a:srgbClr val="14213D"/>
                </a:solidFill>
                <a:latin typeface="Public Sans" pitchFamily="34" charset="0"/>
                <a:ea typeface="Public Sans" pitchFamily="34" charset="-122"/>
                <a:cs typeface="Public Sans" pitchFamily="34" charset="-120"/>
              </a:rPr>
              <a:t>JOIN</a:t>
            </a:r>
            <a:r>
              <a:rPr lang="en-US" sz="1400" dirty="0">
                <a:solidFill>
                  <a:srgbClr val="3E4A5E"/>
                </a:solidFill>
                <a:latin typeface="Public Sans" pitchFamily="34" charset="0"/>
                <a:ea typeface="Public Sans" pitchFamily="34" charset="-122"/>
                <a:cs typeface="Public Sans" pitchFamily="34" charset="-120"/>
              </a:rPr>
              <a:t> juntan proyecto, profesor, persona y notas, y </a:t>
            </a:r>
            <a:r>
              <a:rPr lang="en-US" sz="1400" b="1" dirty="0">
                <a:solidFill>
                  <a:srgbClr val="14213D"/>
                </a:solidFill>
                <a:latin typeface="Public Sans" pitchFamily="34" charset="0"/>
                <a:ea typeface="Public Sans" pitchFamily="34" charset="-122"/>
                <a:cs typeface="Public Sans" pitchFamily="34" charset="-120"/>
              </a:rPr>
              <a:t>GROUP BY</a:t>
            </a:r>
            <a:r>
              <a:rPr lang="en-US" sz="1400" dirty="0">
                <a:solidFill>
                  <a:srgbClr val="3E4A5E"/>
                </a:solidFill>
                <a:latin typeface="Public Sans" pitchFamily="34" charset="0"/>
                <a:ea typeface="Public Sans" pitchFamily="34" charset="-122"/>
                <a:cs typeface="Public Sans" pitchFamily="34" charset="-120"/>
              </a:rPr>
              <a:t> calcula el porcentaje de cada proyecto.</a:t>
            </a:r>
            <a:endParaRPr lang="en-US" sz="1400" dirty="0"/>
          </a:p>
        </p:txBody>
      </p:sp>
      <p:sp>
        <p:nvSpPr>
          <p:cNvPr id="13" name="Text 10"/>
          <p:cNvSpPr/>
          <p:nvPr/>
        </p:nvSpPr>
        <p:spPr>
          <a:xfrm>
            <a:off x="5943534" y="4278474"/>
            <a:ext cx="5598770" cy="77202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E"/>
                </a:solidFill>
                <a:latin typeface="Public Sans" pitchFamily="34" charset="0"/>
                <a:ea typeface="Public Sans" pitchFamily="34" charset="-122"/>
                <a:cs typeface="Public Sans" pitchFamily="34" charset="-120"/>
              </a:rPr>
              <a:t>La columna </a:t>
            </a:r>
            <a:r>
              <a:rPr lang="en-US" sz="1400" b="1" dirty="0">
                <a:solidFill>
                  <a:srgbClr val="14213D"/>
                </a:solidFill>
                <a:latin typeface="Public Sans" pitchFamily="34" charset="0"/>
                <a:ea typeface="Public Sans" pitchFamily="34" charset="-122"/>
                <a:cs typeface="Public Sans" pitchFamily="34" charset="-120"/>
              </a:rPr>
              <a:t>corrigen</a:t>
            </a:r>
            <a:r>
              <a:rPr lang="en-US" sz="1400" dirty="0">
                <a:solidFill>
                  <a:srgbClr val="3E4A5E"/>
                </a:solidFill>
                <a:latin typeface="Public Sans" pitchFamily="34" charset="0"/>
                <a:ea typeface="Public Sans" pitchFamily="34" charset="-122"/>
                <a:cs typeface="Public Sans" pitchFamily="34" charset="-120"/>
              </a:rPr>
              <a:t> solo es posible con el modelo nuevo. Rosalva y Angélica corrigen proyectos de una promoción que no es la suya.</a:t>
            </a:r>
            <a:endParaRPr lang="en-US" sz="1400" dirty="0"/>
          </a:p>
        </p:txBody>
      </p:sp>
      <p:sp>
        <p:nvSpPr>
          <p:cNvPr id="14" name="Text 11"/>
          <p:cNvSpPr/>
          <p:nvPr/>
        </p:nvSpPr>
        <p:spPr>
          <a:xfrm>
            <a:off x="812767" y="6238292"/>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6 · Captura de Supabase</a:t>
            </a:r>
            <a:endParaRPr lang="en-US" sz="1200" dirty="0"/>
          </a:p>
        </p:txBody>
      </p:sp>
      <p:sp>
        <p:nvSpPr>
          <p:cNvPr id="15" name="Text 12"/>
          <p:cNvSpPr/>
          <p:nvPr/>
        </p:nvSpPr>
        <p:spPr>
          <a:xfrm>
            <a:off x="10058433" y="6238292"/>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767" y="6238292"/>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6</a:t>
            </a:r>
            <a:endParaRPr lang="en-US" sz="1200" dirty="0"/>
          </a:p>
        </p:txBody>
      </p:sp>
      <p:sp>
        <p:nvSpPr>
          <p:cNvPr id="3" name="Text 1"/>
          <p:cNvSpPr/>
          <p:nvPr/>
        </p:nvSpPr>
        <p:spPr>
          <a:xfrm>
            <a:off x="10058433" y="6238292"/>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21</a:t>
            </a:r>
            <a:endParaRPr lang="en-US" sz="1200" dirty="0"/>
          </a:p>
        </p:txBody>
      </p:sp>
      <p:sp>
        <p:nvSpPr>
          <p:cNvPr id="4" name="Text 2"/>
          <p:cNvSpPr/>
          <p:nvPr>
            <p:ph type="title"/>
          </p:nvPr>
        </p:nvSpPr>
        <p:spPr>
          <a:xfrm>
            <a:off x="812767" y="812763"/>
            <a:ext cx="10889933" cy="52835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Escalable: crecer es añadir filas</a:t>
            </a:r>
            <a:endParaRPr lang="en-US" sz="3600" dirty="0"/>
          </a:p>
        </p:txBody>
      </p:sp>
      <p:sp>
        <p:nvSpPr>
          <p:cNvPr id="5" name="Text 3"/>
          <p:cNvSpPr/>
          <p:nvPr/>
        </p:nvSpPr>
        <p:spPr>
          <a:xfrm>
            <a:off x="812767" y="1853729"/>
            <a:ext cx="526510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B"/>
                </a:solidFill>
                <a:latin typeface="Public Sans" pitchFamily="34" charset="0"/>
                <a:ea typeface="Public Sans" pitchFamily="34" charset="-122"/>
                <a:cs typeface="Public Sans" pitchFamily="34" charset="-120"/>
              </a:rPr>
              <a:t>UN ALUMNO QUE PASA A SER TA</a:t>
            </a:r>
            <a:endParaRPr lang="en-US" sz="1200" dirty="0"/>
          </a:p>
        </p:txBody>
      </p:sp>
      <p:sp>
        <p:nvSpPr>
          <p:cNvPr id="6" name="Text 4"/>
          <p:cNvSpPr/>
          <p:nvPr/>
        </p:nvSpPr>
        <p:spPr>
          <a:xfrm>
            <a:off x="812767" y="2219437"/>
            <a:ext cx="5111750" cy="1283560"/>
          </a:xfrm>
          <a:prstGeom prst="roundRect">
            <a:avLst>
              <a:gd name="adj" fmla="val 9894"/>
            </a:avLst>
          </a:prstGeom>
          <a:solidFill>
            <a:srgbClr val="14213D"/>
          </a:solidFill>
          <a:ln/>
        </p:spPr>
        <p:txBody>
          <a:bodyPr wrap="square" lIns="216803" tIns="191403" rIns="78691" bIns="165871" rtlCol="0" anchor="t">
            <a:normAutofit/>
          </a:bodyPr>
          <a:lstStyle/>
          <a:p>
            <a:pPr algn="l" indent="0" marL="0">
              <a:lnSpc>
                <a:spcPts val="2170"/>
              </a:lnSpc>
              <a:buNone/>
            </a:pPr>
            <a:r>
              <a:rPr lang="en-US" sz="1400" dirty="0">
                <a:solidFill>
                  <a:srgbClr val="7FB4FF"/>
                </a:solidFill>
                <a:latin typeface="JetBrains Mono" pitchFamily="49" charset="0"/>
                <a:ea typeface="JetBrains Mono" pitchFamily="49" charset="-122"/>
                <a:cs typeface="JetBrains Mono" pitchFamily="49" charset="-120"/>
              </a:rPr>
              <a:t>INSERT INTO</a:t>
            </a:r>
            <a:r>
              <a:rPr lang="en-US" sz="1400" dirty="0">
                <a:solidFill>
                  <a:srgbClr val="E8EDF6"/>
                </a:solidFill>
                <a:latin typeface="JetBrains Mono" pitchFamily="49" charset="0"/>
                <a:ea typeface="JetBrains Mono" pitchFamily="49" charset="-122"/>
                <a:cs typeface="JetBrains Mono" pitchFamily="49" charset="-120"/>
              </a:rPr>
              <a:t> profesor</a:t>
            </a:r>
            <a:endParaRPr lang="en-US" sz="1400" dirty="0"/>
          </a:p>
          <a:p>
            <a:pPr algn="l" indent="0" marL="0">
              <a:lnSpc>
                <a:spcPts val="2170"/>
              </a:lnSpc>
              <a:buNone/>
            </a:pPr>
            <a:r>
              <a:rPr lang="en-US" sz="1400" dirty="0">
                <a:solidFill>
                  <a:srgbClr val="E8EDF6"/>
                </a:solidFill>
                <a:latin typeface="JetBrains Mono" pitchFamily="49" charset="0"/>
                <a:ea typeface="JetBrains Mono" pitchFamily="49" charset="-122"/>
                <a:cs typeface="JetBrains Mono" pitchFamily="49" charset="-120"/>
              </a:rPr>
              <a:t>(id_persona, rol, modalidad)</a:t>
            </a:r>
            <a:endParaRPr lang="en-US" sz="1400" dirty="0"/>
          </a:p>
          <a:p>
            <a:pPr algn="l" indent="0" marL="0">
              <a:lnSpc>
                <a:spcPts val="2170"/>
              </a:lnSpc>
              <a:buNone/>
            </a:pPr>
            <a:r>
              <a:rPr lang="en-US" sz="1400" dirty="0">
                <a:solidFill>
                  <a:srgbClr val="7FB4FF"/>
                </a:solidFill>
                <a:latin typeface="JetBrains Mono" pitchFamily="49" charset="0"/>
                <a:ea typeface="JetBrains Mono" pitchFamily="49" charset="-122"/>
                <a:cs typeface="JetBrains Mono" pitchFamily="49" charset="-120"/>
              </a:rPr>
              <a:t>VALUES</a:t>
            </a:r>
            <a:r>
              <a:rPr lang="en-US" sz="1400" dirty="0">
                <a:solidFill>
                  <a:srgbClr val="E8EDF6"/>
                </a:solidFill>
                <a:latin typeface="JetBrains Mono" pitchFamily="49" charset="0"/>
                <a:ea typeface="JetBrains Mono" pitchFamily="49" charset="-122"/>
                <a:cs typeface="JetBrains Mono" pitchFamily="49" charset="-120"/>
              </a:rPr>
              <a:t> (1, </a:t>
            </a:r>
            <a:r>
              <a:rPr lang="en-US" sz="1400" dirty="0">
                <a:solidFill>
                  <a:srgbClr val="A6E3A1"/>
                </a:solidFill>
                <a:latin typeface="JetBrains Mono" pitchFamily="49" charset="0"/>
                <a:ea typeface="JetBrains Mono" pitchFamily="49" charset="-122"/>
                <a:cs typeface="JetBrains Mono" pitchFamily="49" charset="-120"/>
              </a:rPr>
              <a:t>'TA'</a:t>
            </a:r>
            <a:r>
              <a:rPr lang="en-US" sz="1400" dirty="0">
                <a:solidFill>
                  <a:srgbClr val="E8EDF6"/>
                </a:solidFill>
                <a:latin typeface="JetBrains Mono" pitchFamily="49" charset="0"/>
                <a:ea typeface="JetBrains Mono" pitchFamily="49" charset="-122"/>
                <a:cs typeface="JetBrains Mono" pitchFamily="49" charset="-120"/>
              </a:rPr>
              <a:t>, </a:t>
            </a:r>
            <a:r>
              <a:rPr lang="en-US" sz="1400" dirty="0">
                <a:solidFill>
                  <a:srgbClr val="A6E3A1"/>
                </a:solidFill>
                <a:latin typeface="JetBrains Mono" pitchFamily="49" charset="0"/>
                <a:ea typeface="JetBrains Mono" pitchFamily="49" charset="-122"/>
                <a:cs typeface="JetBrains Mono" pitchFamily="49" charset="-120"/>
              </a:rPr>
              <a:t>'presencial'</a:t>
            </a:r>
            <a:r>
              <a:rPr lang="en-US" sz="1400" dirty="0">
                <a:solidFill>
                  <a:srgbClr val="E8EDF6"/>
                </a:solidFill>
                <a:latin typeface="JetBrains Mono" pitchFamily="49" charset="0"/>
                <a:ea typeface="JetBrains Mono" pitchFamily="49" charset="-122"/>
                <a:cs typeface="JetBrains Mono" pitchFamily="49" charset="-120"/>
              </a:rPr>
              <a:t>);</a:t>
            </a:r>
            <a:endParaRPr lang="en-US" sz="1400" dirty="0"/>
          </a:p>
        </p:txBody>
      </p:sp>
      <p:sp>
        <p:nvSpPr>
          <p:cNvPr id="7" name="Text 5"/>
          <p:cNvSpPr/>
          <p:nvPr/>
        </p:nvSpPr>
        <p:spPr>
          <a:xfrm>
            <a:off x="812767" y="3655380"/>
            <a:ext cx="5265103" cy="52314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E"/>
                </a:solidFill>
                <a:latin typeface="Public Sans" pitchFamily="34" charset="0"/>
                <a:ea typeface="Public Sans" pitchFamily="34" charset="-122"/>
                <a:cs typeface="Public Sans" pitchFamily="34" charset="-120"/>
              </a:rPr>
              <a:t>Jafet (persona 1) ya es alumno y ahora también profesor. Sin repetir su nombre ni su email.</a:t>
            </a:r>
            <a:endParaRPr lang="en-US" sz="1400" dirty="0"/>
          </a:p>
        </p:txBody>
      </p:sp>
      <p:sp>
        <p:nvSpPr>
          <p:cNvPr id="8" name="Shape 6"/>
          <p:cNvSpPr/>
          <p:nvPr/>
        </p:nvSpPr>
        <p:spPr>
          <a:xfrm>
            <a:off x="6178517" y="1748309"/>
            <a:ext cx="5207000" cy="2510317"/>
          </a:xfrm>
          <a:prstGeom prst="rect">
            <a:avLst/>
          </a:prstGeom>
          <a:solidFill>
            <a:srgbClr val="FFFFFF"/>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189100" y="1758892"/>
          <a:ext cx="5196417" cy="2499734"/>
        </p:xfrm>
        <a:graphic>
          <a:graphicData uri="http://schemas.openxmlformats.org/drawingml/2006/table">
            <a:tbl>
              <a:tblPr/>
              <a:tblGrid>
                <a:gridCol w="2909993"/>
                <a:gridCol w="2286423"/>
              </a:tblGrid>
              <a:tr h="357105">
                <a:tc>
                  <a:txBody>
                    <a:bodyPr/>
                    <a:lstStyle/>
                    <a:p>
                      <a:pPr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Quiero añadir…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Public Sans" pitchFamily="34" charset="0"/>
                          <a:ea typeface="Public Sans" pitchFamily="34" charset="-122"/>
                          <a:cs typeface="Public Sans" pitchFamily="34" charset="-120"/>
                        </a:rPr>
                        <a:t>¿Cambia la estructura?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Un campus o promoción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Un proyecto o una vertical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Un profesor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No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Un alumno en 2 bootcamps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No (gracias a N:M)</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Un alumno que también es TA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No (herencia solapada)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7105">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Quién corrige un proyecto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Public Sans" pitchFamily="34" charset="0"/>
                          <a:ea typeface="Public Sans" pitchFamily="34" charset="-122"/>
                          <a:cs typeface="Public Sans" pitchFamily="34" charset="-120"/>
                        </a:rPr>
                        <a:t>No (Corrigen)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767" y="812763"/>
            <a:ext cx="10883460" cy="528356"/>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Qué mejoraríamos</a:t>
            </a:r>
            <a:endParaRPr lang="en-US" sz="3600" dirty="0"/>
          </a:p>
        </p:txBody>
      </p:sp>
      <p:sp>
        <p:nvSpPr>
          <p:cNvPr id="3" name="Shape 1"/>
          <p:cNvSpPr/>
          <p:nvPr/>
        </p:nvSpPr>
        <p:spPr>
          <a:xfrm>
            <a:off x="819117" y="1601453"/>
            <a:ext cx="3390916" cy="1494019"/>
          </a:xfrm>
          <a:prstGeom prst="roundRect">
            <a:avLst>
              <a:gd name="adj" fmla="val 8076"/>
            </a:avLst>
          </a:prstGeom>
          <a:solidFill>
            <a:srgbClr val="FFFFFF"/>
          </a:solidFill>
          <a:ln w="12700">
            <a:solidFill>
              <a:srgbClr val="DCE2EC"/>
            </a:solidFill>
            <a:prstDash val="solid"/>
          </a:ln>
        </p:spPr>
      </p:sp>
      <p:sp>
        <p:nvSpPr>
          <p:cNvPr id="4" name="Text 2"/>
          <p:cNvSpPr/>
          <p:nvPr/>
        </p:nvSpPr>
        <p:spPr>
          <a:xfrm>
            <a:off x="1051884" y="1834220"/>
            <a:ext cx="3013144" cy="28444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Public Sans" pitchFamily="34" charset="0"/>
                <a:ea typeface="Public Sans" pitchFamily="34" charset="-122"/>
                <a:cs typeface="Public Sans" pitchFamily="34" charset="-120"/>
              </a:rPr>
              <a:t>Tabla modalidad</a:t>
            </a:r>
            <a:endParaRPr lang="en-US" sz="1700" dirty="0"/>
          </a:p>
        </p:txBody>
      </p:sp>
      <p:sp>
        <p:nvSpPr>
          <p:cNvPr id="5" name="Text 3"/>
          <p:cNvSpPr/>
          <p:nvPr/>
        </p:nvSpPr>
        <p:spPr>
          <a:xfrm>
            <a:off x="1051884" y="2169418"/>
            <a:ext cx="3013144"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Public Sans" pitchFamily="34" charset="0"/>
                <a:ea typeface="Public Sans" pitchFamily="34" charset="-122"/>
                <a:cs typeface="Public Sans" pitchFamily="34" charset="-120"/>
              </a:rPr>
              <a:t>“Híbrida” sería un INSERT, y serviría también para alumnos y promociones</a:t>
            </a:r>
            <a:endParaRPr lang="en-US" sz="1300" dirty="0"/>
          </a:p>
        </p:txBody>
      </p:sp>
      <p:sp>
        <p:nvSpPr>
          <p:cNvPr id="6" name="Shape 4"/>
          <p:cNvSpPr/>
          <p:nvPr/>
        </p:nvSpPr>
        <p:spPr>
          <a:xfrm>
            <a:off x="4400500" y="1601453"/>
            <a:ext cx="3390916" cy="1494019"/>
          </a:xfrm>
          <a:prstGeom prst="roundRect">
            <a:avLst>
              <a:gd name="adj" fmla="val 8076"/>
            </a:avLst>
          </a:prstGeom>
          <a:solidFill>
            <a:srgbClr val="FFFFFF"/>
          </a:solidFill>
          <a:ln w="12700">
            <a:solidFill>
              <a:srgbClr val="DCE2EC"/>
            </a:solidFill>
            <a:prstDash val="solid"/>
          </a:ln>
        </p:spPr>
      </p:sp>
      <p:sp>
        <p:nvSpPr>
          <p:cNvPr id="7" name="Text 5"/>
          <p:cNvSpPr/>
          <p:nvPr/>
        </p:nvSpPr>
        <p:spPr>
          <a:xfrm>
            <a:off x="4633268" y="1834220"/>
            <a:ext cx="3013144" cy="28444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Public Sans" pitchFamily="34" charset="0"/>
                <a:ea typeface="Public Sans" pitchFamily="34" charset="-122"/>
                <a:cs typeface="Public Sans" pitchFamily="34" charset="-120"/>
              </a:rPr>
              <a:t>Datos que faltan</a:t>
            </a:r>
            <a:endParaRPr lang="en-US" sz="1700" dirty="0"/>
          </a:p>
        </p:txBody>
      </p:sp>
      <p:sp>
        <p:nvSpPr>
          <p:cNvPr id="8" name="Text 6"/>
          <p:cNvSpPr/>
          <p:nvPr/>
        </p:nvSpPr>
        <p:spPr>
          <a:xfrm>
            <a:off x="4633268" y="2169418"/>
            <a:ext cx="3013144" cy="71869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Public Sans" pitchFamily="34" charset="0"/>
                <a:ea typeface="Public Sans" pitchFamily="34" charset="-122"/>
                <a:cs typeface="Public Sans" pitchFamily="34" charset="-120"/>
              </a:rPr>
              <a:t>Email de los profesores y correcciones reales, que los CSV no traen</a:t>
            </a:r>
            <a:endParaRPr lang="en-US" sz="1300" dirty="0"/>
          </a:p>
        </p:txBody>
      </p:sp>
      <p:sp>
        <p:nvSpPr>
          <p:cNvPr id="9" name="Shape 7"/>
          <p:cNvSpPr/>
          <p:nvPr/>
        </p:nvSpPr>
        <p:spPr>
          <a:xfrm>
            <a:off x="7981883" y="1601453"/>
            <a:ext cx="3390916" cy="1494019"/>
          </a:xfrm>
          <a:prstGeom prst="roundRect">
            <a:avLst>
              <a:gd name="adj" fmla="val 8076"/>
            </a:avLst>
          </a:prstGeom>
          <a:solidFill>
            <a:srgbClr val="FFFFFF"/>
          </a:solidFill>
          <a:ln w="12700">
            <a:solidFill>
              <a:srgbClr val="DCE2EC"/>
            </a:solidFill>
            <a:prstDash val="solid"/>
          </a:ln>
        </p:spPr>
      </p:sp>
      <p:sp>
        <p:nvSpPr>
          <p:cNvPr id="10" name="Text 8"/>
          <p:cNvSpPr/>
          <p:nvPr/>
        </p:nvSpPr>
        <p:spPr>
          <a:xfrm>
            <a:off x="8214651" y="1834220"/>
            <a:ext cx="3013144" cy="28444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Public Sans" pitchFamily="34" charset="0"/>
                <a:ea typeface="Public Sans" pitchFamily="34" charset="-122"/>
                <a:cs typeface="Public Sans" pitchFamily="34" charset="-120"/>
              </a:rPr>
              <a:t>Más restricciones</a:t>
            </a:r>
            <a:endParaRPr lang="en-US" sz="1700" dirty="0"/>
          </a:p>
        </p:txBody>
      </p:sp>
      <p:sp>
        <p:nvSpPr>
          <p:cNvPr id="11" name="Text 9"/>
          <p:cNvSpPr/>
          <p:nvPr/>
        </p:nvSpPr>
        <p:spPr>
          <a:xfrm>
            <a:off x="8214651" y="2169418"/>
            <a:ext cx="3013144" cy="48759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E4A5E"/>
                </a:solidFill>
                <a:latin typeface="Public Sans" pitchFamily="34" charset="0"/>
                <a:ea typeface="Public Sans" pitchFamily="34" charset="-122"/>
                <a:cs typeface="Public Sans" pitchFamily="34" charset="-120"/>
              </a:rPr>
              <a:t>UNIQUE en el email, NOT NULL y CHECK en la evaluación</a:t>
            </a:r>
            <a:endParaRPr lang="en-US" sz="1300" dirty="0"/>
          </a:p>
        </p:txBody>
      </p:sp>
      <p:sp>
        <p:nvSpPr>
          <p:cNvPr id="12" name="Text 10"/>
          <p:cNvSpPr/>
          <p:nvPr/>
        </p:nvSpPr>
        <p:spPr>
          <a:xfrm>
            <a:off x="812767" y="6238292"/>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Bloque 7</a:t>
            </a:r>
            <a:endParaRPr lang="en-US" sz="1200" dirty="0"/>
          </a:p>
        </p:txBody>
      </p:sp>
      <p:sp>
        <p:nvSpPr>
          <p:cNvPr id="13" name="Text 11"/>
          <p:cNvSpPr/>
          <p:nvPr/>
        </p:nvSpPr>
        <p:spPr>
          <a:xfrm>
            <a:off x="10058433" y="6238292"/>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690"/>
                </a:solidFill>
                <a:latin typeface="Public Sans" pitchFamily="34" charset="0"/>
                <a:ea typeface="Public Sans" pitchFamily="34" charset="-122"/>
                <a:cs typeface="Public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767" y="1356482"/>
            <a:ext cx="10883460" cy="274274"/>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65A"/>
                </a:solidFill>
                <a:latin typeface="Public Sans" pitchFamily="34" charset="0"/>
                <a:ea typeface="Public Sans" pitchFamily="34" charset="-122"/>
                <a:cs typeface="Public Sans" pitchFamily="34" charset="-120"/>
              </a:rPr>
              <a:t>EN RESUMEN</a:t>
            </a:r>
            <a:endParaRPr lang="en-US" sz="1400" dirty="0"/>
          </a:p>
        </p:txBody>
      </p:sp>
      <p:sp>
        <p:nvSpPr>
          <p:cNvPr id="3" name="Text 1"/>
          <p:cNvSpPr/>
          <p:nvPr>
            <p:ph type="title"/>
          </p:nvPr>
        </p:nvSpPr>
        <p:spPr>
          <a:xfrm>
            <a:off x="812767" y="1910122"/>
            <a:ext cx="9810750" cy="203706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Space Grotesk" pitchFamily="34" charset="0"/>
                <a:ea typeface="Space Grotesk" pitchFamily="34" charset="-122"/>
                <a:cs typeface="Space Grotesk" pitchFamily="34" charset="-120"/>
              </a:rPr>
              <a:t>5 CSV con datos repetidos → 10 tablas en 3FN, en la nube y listas para crecer</a:t>
            </a:r>
            <a:endParaRPr lang="en-US" sz="4800" dirty="0"/>
          </a:p>
        </p:txBody>
      </p:sp>
      <p:sp>
        <p:nvSpPr>
          <p:cNvPr id="4" name="Text 2"/>
          <p:cNvSpPr/>
          <p:nvPr/>
        </p:nvSpPr>
        <p:spPr>
          <a:xfrm>
            <a:off x="812767" y="4226545"/>
            <a:ext cx="1534583" cy="401174"/>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Public Sans" pitchFamily="34" charset="0"/>
                <a:ea typeface="Public Sans" pitchFamily="34" charset="-122"/>
                <a:cs typeface="Public Sans" pitchFamily="34" charset="-120"/>
              </a:rPr>
              <a:t>Normalización</a:t>
            </a:r>
            <a:endParaRPr lang="en-US" sz="1400" dirty="0"/>
          </a:p>
        </p:txBody>
      </p:sp>
      <p:sp>
        <p:nvSpPr>
          <p:cNvPr id="5" name="Text 3"/>
          <p:cNvSpPr/>
          <p:nvPr/>
        </p:nvSpPr>
        <p:spPr>
          <a:xfrm>
            <a:off x="2499734" y="4226545"/>
            <a:ext cx="1304065" cy="401174"/>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Public Sans" pitchFamily="34" charset="0"/>
                <a:ea typeface="Public Sans" pitchFamily="34" charset="-122"/>
                <a:cs typeface="Public Sans" pitchFamily="34" charset="-120"/>
              </a:rPr>
              <a:t>Modelo E/R</a:t>
            </a:r>
            <a:endParaRPr lang="en-US" sz="1400" dirty="0"/>
          </a:p>
        </p:txBody>
      </p:sp>
      <p:sp>
        <p:nvSpPr>
          <p:cNvPr id="6" name="Text 4"/>
          <p:cNvSpPr/>
          <p:nvPr/>
        </p:nvSpPr>
        <p:spPr>
          <a:xfrm>
            <a:off x="3956182" y="4226545"/>
            <a:ext cx="1511763" cy="401174"/>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Public Sans" pitchFamily="34" charset="0"/>
                <a:ea typeface="Public Sans" pitchFamily="34" charset="-122"/>
                <a:cs typeface="Public Sans" pitchFamily="34" charset="-120"/>
              </a:rPr>
              <a:t>Modelo lógico</a:t>
            </a:r>
            <a:endParaRPr lang="en-US" sz="1400" dirty="0"/>
          </a:p>
        </p:txBody>
      </p:sp>
      <p:sp>
        <p:nvSpPr>
          <p:cNvPr id="7" name="Text 5"/>
          <p:cNvSpPr/>
          <p:nvPr/>
        </p:nvSpPr>
        <p:spPr>
          <a:xfrm>
            <a:off x="5620329" y="4226545"/>
            <a:ext cx="2303777" cy="401174"/>
          </a:xfrm>
          <a:prstGeom prst="roundRect">
            <a:avLst>
              <a:gd name="adj" fmla="val 50000"/>
            </a:avLst>
          </a:prstGeom>
          <a:solidFill>
            <a:srgbClr val="22325A"/>
          </a:solidFill>
          <a:ln/>
        </p:spPr>
        <p:txBody>
          <a:bodyPr wrap="none" lIns="0" tIns="0" rIns="0" bIns="0" rtlCol="0" anchor="ctr">
            <a:normAutofit/>
          </a:bodyPr>
          <a:lstStyle/>
          <a:p>
            <a:pPr algn="ctr" indent="0" marL="0">
              <a:lnSpc>
                <a:spcPts val="1960"/>
              </a:lnSpc>
              <a:buNone/>
            </a:pPr>
            <a:r>
              <a:rPr lang="en-US" sz="1400" dirty="0">
                <a:solidFill>
                  <a:srgbClr val="F6F5F0"/>
                </a:solidFill>
                <a:latin typeface="Public Sans" pitchFamily="34" charset="0"/>
                <a:ea typeface="Public Sans" pitchFamily="34" charset="-122"/>
                <a:cs typeface="Public Sans" pitchFamily="34" charset="-120"/>
              </a:rPr>
              <a:t>PostgreSQL · Supabase</a:t>
            </a:r>
            <a:endParaRPr lang="en-US" sz="1400" dirty="0"/>
          </a:p>
        </p:txBody>
      </p:sp>
      <p:sp>
        <p:nvSpPr>
          <p:cNvPr id="8" name="Text 6"/>
          <p:cNvSpPr/>
          <p:nvPr/>
        </p:nvSpPr>
        <p:spPr>
          <a:xfrm>
            <a:off x="812767" y="4932487"/>
            <a:ext cx="10883460" cy="594337"/>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2A65A"/>
                </a:solidFill>
                <a:latin typeface="Space Grotesk" pitchFamily="34" charset="0"/>
                <a:ea typeface="Space Grotesk" pitchFamily="34" charset="-122"/>
                <a:cs typeface="Space Grotesk" pitchFamily="34" charset="-120"/>
              </a:rPr>
              <a:t>¿Preguntas?</a:t>
            </a:r>
            <a:endParaRPr lang="en-US" sz="3200" dirty="0"/>
          </a:p>
        </p:txBody>
      </p:sp>
    </p:spTree>
  </p:cSld>
  <p:clrMapOvr>
    <a:masterClrMapping/>
  </p:clrMapOvr>
</p:sld>
</file>

<file path=ppt/theme/theme1.xml><?xml version="1.0" encoding="utf-8"?>
<a:theme xmlns:a="http://schemas.openxmlformats.org/drawingml/2006/main" name="Proyecto BBDD Relacional">
  <a:themeElements>
    <a:clrScheme name="Proyecto BBDD Relacional">
      <a:dk1>
        <a:srgbClr val="14213D"/>
      </a:dk1>
      <a:lt1>
        <a:srgbClr val="F6F5F0"/>
      </a:lt1>
      <a:dk2>
        <a:srgbClr val="4D566A"/>
      </a:dk2>
      <a:lt2>
        <a:srgbClr val="DFE0DE"/>
      </a:lt2>
      <a:accent1>
        <a:srgbClr val="2F6FEB"/>
      </a:accent1>
      <a:accent2>
        <a:srgbClr val="F2A65A"/>
      </a:accent2>
      <a:accent3>
        <a:srgbClr val="22325A"/>
      </a:accent3>
      <a:accent4>
        <a:srgbClr val="1F7A4D"/>
      </a:accent4>
      <a:accent5>
        <a:srgbClr val="9AA8C4"/>
      </a:accent5>
      <a:accent6>
        <a:srgbClr val="C2410C"/>
      </a:accent6>
      <a:hlink>
        <a:srgbClr val="0563C1"/>
      </a:hlink>
      <a:folHlink>
        <a:srgbClr val="954F72"/>
      </a:folHlink>
    </a:clrScheme>
    <a:fontScheme name="Proyecto BBDD Relacional">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BBDD Relacional</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2026-10-29T20:03:44Z</dcterms:created>
  <dcterms:modified xsi:type="dcterms:W3CDTF">2026-10-29T20:03:44Z</dcterms:modified>
</cp:coreProperties>
</file>